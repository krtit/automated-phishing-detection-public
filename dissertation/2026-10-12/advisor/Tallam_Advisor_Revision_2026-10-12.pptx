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URL-service study, not an evaluation of frontier-model reasoning. Begin with the engineering decision, not the artifact count.</a:t>
            </a:r>
          </a:p>
          <a:p>
            <a:r>
              <a:t>Evidence: Manuscript title; §§1.3–1.5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RQ1 requires both structural-over-length and cascade-over-structural gains. RQ2 additionally requires external policy FPR ≤1% and a positive paired false-negative reduction. RQ3 retains certified-negative and Tranco safeguards for both systems. Numerical requirements are study-defined, not universal literature cutoffs.</a:t>
            </a:r>
          </a:p>
          <a:p>
            <a:r>
              <a:t>Evidence: §§1.4.1–1.4.3; corrected-primary-gates.csv</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 and S follow the original study. P/F/R/C follow the October 12 review under a separate frozen specification. These are not pooled into a new version of H1–H3. Chronology and adverse results remain retained.</a:t>
            </a:r>
          </a:p>
          <a:p>
            <a:r>
              <a:t>Evidence: §§3.15–3.16; Appendices A–C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Internal interval [59.99,67.63] points is domain-clustered. Corrected external envelope [57.27,87.19] is conditional on independent labeled pairs. The transformer alone has 99.2791% external certified FPR. H1 remains unsupported because all conditions are required.</a:t>
            </a:r>
          </a:p>
          <a:p>
            <a:r>
              <a:t>Evidence: §§3.8, 4.2; Tables 4.2–4.3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elementary overlap bound applies to the two fixed binary decisions and this cohort, not all possible recalibrations, representations or future populations. It directs effort toward discriminative information rather than more routing alone.</a:t>
            </a:r>
          </a:p>
          <a:p>
            <a:r>
              <a:t>Evidence: §4.8.1; saved-score-routing-replay-v2.json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 changes the prefix and preserves every character after the colon. HTTPS FPR remains 2.0024%, recall becomes 31.8841%. This is not a live-site transport experiment or an isolated causal effect of is_https. D separately achieves exact invariance on 8,622 pairs but loses 184 detections while removing 251 false positives after refit/recalibration.</a:t>
            </a:r>
          </a:p>
          <a:p>
            <a:r>
              <a:t>Evidence: §4.10.1; Table 4.21; F-formatting.csv</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width .20 rule was selected using bounded development replay before R scoring. The directional rule also creates 18 negative harms. Matched-count controls create two and one false positives. Across all records the transformer repairs one negative error but introduces 194; the selected bands miss that isolated repair. R is retrospective and does not establish campaign independence.</a:t>
            </a:r>
          </a:p>
          <a:p>
            <a:r>
              <a:t>Evidence: §§3.16.1–3.16.2, 4.10.2; Table 4.22; R-routing.csv</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exact marginal-discordance envelope; Newcombe method 10 is a sensitivity check. The new statements concern original and symmetric cascades versus transformer on R, under independent labeled-pair assumptions. They do not establish specificity, joint deployment adequacy or original H3. Source-date grouping does not prove campaign independence.</a:t>
            </a:r>
          </a:p>
          <a:p>
            <a:r>
              <a:t>Evidence: §§3.8, 4.10.2; Table 4.3; R-paired-contrasts.csv</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Thirty arms are six paths by five repeats; 30,000 measured requests plus 3,000 excluded warmups. Zero recorded failures. The five cyclic rotations are not fully position-balanced. Ratios are medians of paired summed scoring times and quantiles are medians of run quantiles, not pooled HTTP latencies. No run-level confidence interval is claimed.</a:t>
            </a:r>
          </a:p>
          <a:p>
            <a:r>
              <a:t>Evidence: §4.10.3; Table 4.23; C-cost-summary.csv and C-all-arms.csv</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monitor exceeds the 80% sensitivity target but misses the 5% reference-alert target. Policy FPR is 2479/2497, gold recall remains 69/69, and no positive population improvement lower bound is established. Overlapping windows and future activations are dependent. H2 is unsupported, with an identified reason rather than an unexplained failure label.</a:t>
            </a:r>
          </a:p>
          <a:p>
            <a:r>
              <a:t>Evidence: §§4.3, 5.1; Tables 4.4–4.5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 uses synthetic structural-only closed-loop HTTP work. Ratio .203249, 97.5% CI [.18790,.21351]. Strict response agreement remains unmet because admission sequence differs and one shared-client request times out. All 80 final arms are retained; no predecessor arm is pooled. This does not establish transformer-service acceleration or production capacity.</a:t>
            </a:r>
          </a:p>
          <a:p>
            <a:r>
              <a:t>Evidence: §4.9; Tables 4.18–4.20 and B.1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True validation labels select each descriptive threshold. Near-0.5 score centers do not imply chance ranking; AUC depends on order. The audit proves label linkage for the five new fits, not historical retroauthentication, absence of leakage or a formal .05 permutation test. Five permutations would not support such a test.</a:t>
            </a:r>
          </a:p>
          <a:p>
            <a:r>
              <a:t>Evidence: §4.10.4; Table 4.24; P-all-seeds.csv</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Ahamed et al. already examine normalization and two-source transfer. ExpertFusion's repository documents calibrated expert fusion. This dissertation does not claim those components as inventions. Its empirical connection among error overlap, risk constraints, a fixed routing revision and measured computation provides a concrete design decision. The overlap bound itself is not presented as a new theorem.</a:t>
            </a:r>
          </a:p>
          <a:p>
            <a:r>
              <a:t>Evidence: §§2.2–2.9, 5.2; Tables 2.1 and 5.1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passes replace the historical nine because the 69-case noninferiority interval was corrected. New R recall-only findings do not retroactively restore the original pass. D and S joint requirements remain unmet despite successful properties and measured improvements. Completed research and passing every operating target are not synonyms.</a:t>
            </a:r>
          </a:p>
          <a:p>
            <a:r>
              <a:t>Evidence: §§4.7, 5.1–5.6; Tables 4.14 and 5.2; corrected-primary-gates.csv</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connects diagnosis to modification without hiding tradeoffs. The current experiments reject the wider external gate, establish exact representation conformance with its cost, support bounded recall-only statements and demonstrate a client-path latency effect. New studies would need new populations and declared development rules, not relabeled historical outcomes.</a:t>
            </a:r>
          </a:p>
          <a:p>
            <a:r>
              <a:t>Evidence: §§5.2–5.6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public projection contains aggregates, permitted identities and verification scope. It is not a complete independent reproduction of private row-level evidence. Saved-observation verification is arithmetic reconstruction, not empirical replication. The draft meets the 150-page total ceiling but its 106-page body exceeds the approximately 80-page program recommendation; no waiver or acceptance is implied.</a:t>
            </a:r>
          </a:p>
          <a:p>
            <a:r>
              <a:t>Evidence: Appendices A–C; EVIDENCE_MAP.txt; VERIFICATION.txt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B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92608"/>
            <a:ext cx="10972800" cy="274320"/>
          </a:xfrm>
          <a:prstGeom prst="rect">
            <a:avLst/>
          </a:prstGeom>
          <a:noFill/>
        </p:spPr>
        <p:txBody>
          <a:bodyPr wrap="square" lIns="18288" rIns="18288" tIns="18288" bIns="18288">
            <a:spAutoFit/>
          </a:bodyPr>
          <a:lstStyle/>
          <a:p>
            <a:pPr>
              <a:defRPr sz="1200" b="1">
                <a:solidFill>
                  <a:srgbClr val="53616E"/>
                </a:solidFill>
                <a:latin typeface="Arial"/>
              </a:defRPr>
            </a:pPr>
            <a:r>
              <a:t>CYBERSENTINEL  /  RESEARCH REVIEW</a:t>
            </a:r>
          </a:p>
        </p:txBody>
      </p:sp>
      <p:sp>
        <p:nvSpPr>
          <p:cNvPr id="4" name="TextBox 3"/>
          <p:cNvSpPr txBox="1"/>
          <p:nvPr/>
        </p:nvSpPr>
        <p:spPr>
          <a:xfrm>
            <a:off x="566928" y="832104"/>
            <a:ext cx="10972800" cy="1005840"/>
          </a:xfrm>
          <a:prstGeom prst="rect">
            <a:avLst/>
          </a:prstGeom>
          <a:noFill/>
        </p:spPr>
        <p:txBody>
          <a:bodyPr wrap="square" lIns="18288" rIns="18288" tIns="18288" bIns="18288">
            <a:spAutoFit/>
          </a:bodyPr>
          <a:lstStyle/>
          <a:p>
            <a:pPr>
              <a:defRPr sz="2900" b="1">
                <a:solidFill>
                  <a:srgbClr val="033C5A"/>
                </a:solidFill>
                <a:latin typeface="Arial"/>
              </a:defRPr>
            </a:pPr>
            <a:r>
              <a:t>A constrained detector, evaluated end to end</a:t>
            </a:r>
          </a:p>
        </p:txBody>
      </p:sp>
      <p:sp>
        <p:nvSpPr>
          <p:cNvPr id="5" name="TextBox 4"/>
          <p:cNvSpPr txBox="1"/>
          <p:nvPr/>
        </p:nvSpPr>
        <p:spPr>
          <a:xfrm>
            <a:off x="566928" y="1920240"/>
            <a:ext cx="10927080" cy="777240"/>
          </a:xfrm>
          <a:prstGeom prst="rect">
            <a:avLst/>
          </a:prstGeom>
          <a:noFill/>
        </p:spPr>
        <p:txBody>
          <a:bodyPr wrap="square" lIns="18288" rIns="18288" tIns="18288" bIns="18288">
            <a:spAutoFit/>
          </a:bodyPr>
          <a:lstStyle/>
          <a:p>
            <a:pPr>
              <a:defRPr sz="2200" b="0">
                <a:solidFill>
                  <a:srgbClr val="033C5A"/>
                </a:solidFill>
                <a:latin typeface="Arial"/>
              </a:defRPr>
            </a:pPr>
            <a:r>
              <a:t>The research question is when added representation and computation improve useful detection.</a:t>
            </a:r>
          </a:p>
        </p:txBody>
      </p:sp>
      <p:sp>
        <p:nvSpPr>
          <p:cNvPr id="6" name="TextBox 5"/>
          <p:cNvSpPr txBox="1"/>
          <p:nvPr/>
        </p:nvSpPr>
        <p:spPr>
          <a:xfrm>
            <a:off x="603504" y="2962656"/>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01</a:t>
            </a:r>
          </a:p>
        </p:txBody>
      </p:sp>
      <p:sp>
        <p:nvSpPr>
          <p:cNvPr id="7" name="TextBox 6"/>
          <p:cNvSpPr txBox="1"/>
          <p:nvPr/>
        </p:nvSpPr>
        <p:spPr>
          <a:xfrm>
            <a:off x="1188720" y="2962656"/>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URL-only structural model → selective character transformer</a:t>
            </a:r>
          </a:p>
        </p:txBody>
      </p:sp>
      <p:sp>
        <p:nvSpPr>
          <p:cNvPr id="8" name="TextBox 7"/>
          <p:cNvSpPr txBox="1"/>
          <p:nvPr/>
        </p:nvSpPr>
        <p:spPr>
          <a:xfrm>
            <a:off x="603504" y="3822191"/>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02</a:t>
            </a:r>
          </a:p>
        </p:txBody>
      </p:sp>
      <p:sp>
        <p:nvSpPr>
          <p:cNvPr id="9" name="TextBox 8"/>
          <p:cNvSpPr txBox="1"/>
          <p:nvPr/>
        </p:nvSpPr>
        <p:spPr>
          <a:xfrm>
            <a:off x="1188720" y="3822191"/>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Monitoring, operating-point risk and real HTTP execution</a:t>
            </a:r>
          </a:p>
        </p:txBody>
      </p:sp>
      <p:sp>
        <p:nvSpPr>
          <p:cNvPr id="10" name="TextBox 9"/>
          <p:cNvSpPr txBox="1"/>
          <p:nvPr/>
        </p:nvSpPr>
        <p:spPr>
          <a:xfrm>
            <a:off x="603504" y="4681728"/>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03</a:t>
            </a:r>
          </a:p>
        </p:txBody>
      </p:sp>
      <p:sp>
        <p:nvSpPr>
          <p:cNvPr id="11" name="TextBox 10"/>
          <p:cNvSpPr txBox="1"/>
          <p:nvPr/>
        </p:nvSpPr>
        <p:spPr>
          <a:xfrm>
            <a:off x="1188720" y="4681728"/>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Revision: 12 October 2026 · Krti Tallam</a:t>
            </a:r>
          </a:p>
        </p:txBody>
      </p:sp>
      <p:sp>
        <p:nvSpPr>
          <p:cNvPr id="12" name="TextBox 11"/>
          <p:cNvSpPr txBox="1"/>
          <p:nvPr/>
        </p:nvSpPr>
        <p:spPr>
          <a:xfrm>
            <a:off x="585216" y="5961888"/>
            <a:ext cx="10607040" cy="438912"/>
          </a:xfrm>
          <a:prstGeom prst="rect">
            <a:avLst/>
          </a:prstGeom>
          <a:noFill/>
        </p:spPr>
        <p:txBody>
          <a:bodyPr wrap="square" lIns="18288" rIns="18288" tIns="18288" bIns="18288">
            <a:spAutoFit/>
          </a:bodyPr>
          <a:lstStyle/>
          <a:p>
            <a:pPr>
              <a:defRPr sz="1200" b="0">
                <a:solidFill>
                  <a:srgbClr val="53616E"/>
                </a:solidFill>
                <a:latin typeface="Arial"/>
              </a:defRPr>
            </a:pPr>
            <a:r>
              <a:t>Manuscript title; §§1.3–1.5</a:t>
            </a:r>
          </a:p>
        </p:txBody>
      </p:sp>
      <p:sp>
        <p:nvSpPr>
          <p:cNvPr id="13" name="TextBox 12"/>
          <p:cNvSpPr txBox="1"/>
          <p:nvPr/>
        </p:nvSpPr>
        <p:spPr>
          <a:xfrm>
            <a:off x="585216" y="6428232"/>
            <a:ext cx="10607040" cy="219456"/>
          </a:xfrm>
          <a:prstGeom prst="rect">
            <a:avLst/>
          </a:prstGeom>
          <a:noFill/>
        </p:spPr>
        <p:txBody>
          <a:bodyPr wrap="square" lIns="18288" rIns="18288" tIns="18288" bIns="18288">
            <a:spAutoFit/>
          </a:bodyPr>
          <a:lstStyle/>
          <a:p>
            <a:pPr>
              <a:defRPr sz="1000" b="0">
                <a:solidFill>
                  <a:srgbClr val="53616E"/>
                </a:solidFill>
                <a:latin typeface="Arial"/>
              </a:defRPr>
            </a:pPr>
            <a:r>
              <a:t>Krti Tallam  ·  12 October 2026  ·  Original requirements and adverse outcomes retained</a:t>
            </a:r>
          </a:p>
        </p:txBody>
      </p:sp>
      <p:sp>
        <p:nvSpPr>
          <p:cNvPr id="14" name="TextBox 13"/>
          <p:cNvSpPr txBox="1"/>
          <p:nvPr/>
        </p:nvSpPr>
        <p:spPr>
          <a:xfrm>
            <a:off x="11109960" y="6382512"/>
            <a:ext cx="457200" cy="320040"/>
          </a:xfrm>
          <a:prstGeom prst="rect">
            <a:avLst/>
          </a:prstGeom>
          <a:noFill/>
        </p:spPr>
        <p:txBody>
          <a:bodyPr wrap="square" lIns="18288" rIns="18288" tIns="18288" bIns="18288">
            <a:spAutoFit/>
          </a:bodyPr>
          <a:lstStyle/>
          <a:p>
            <a:pPr>
              <a:defRPr sz="1300" b="1">
                <a:solidFill>
                  <a:srgbClr val="033C5A"/>
                </a:solidFill>
                <a:latin typeface="Arial"/>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B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92608"/>
            <a:ext cx="10972800" cy="274320"/>
          </a:xfrm>
          <a:prstGeom prst="rect">
            <a:avLst/>
          </a:prstGeom>
          <a:noFill/>
        </p:spPr>
        <p:txBody>
          <a:bodyPr wrap="square" lIns="18288" rIns="18288" tIns="18288" bIns="18288">
            <a:spAutoFit/>
          </a:bodyPr>
          <a:lstStyle/>
          <a:p>
            <a:pPr>
              <a:defRPr sz="1200" b="1">
                <a:solidFill>
                  <a:srgbClr val="53616E"/>
                </a:solidFill>
                <a:latin typeface="Arial"/>
              </a:defRPr>
            </a:pPr>
            <a:r>
              <a:t>CYBERSENTINEL  /  RESEARCH REVIEW</a:t>
            </a:r>
          </a:p>
        </p:txBody>
      </p:sp>
      <p:sp>
        <p:nvSpPr>
          <p:cNvPr id="4" name="TextBox 3"/>
          <p:cNvSpPr txBox="1"/>
          <p:nvPr/>
        </p:nvSpPr>
        <p:spPr>
          <a:xfrm>
            <a:off x="566928" y="832104"/>
            <a:ext cx="10972800" cy="1005840"/>
          </a:xfrm>
          <a:prstGeom prst="rect">
            <a:avLst/>
          </a:prstGeom>
          <a:noFill/>
        </p:spPr>
        <p:txBody>
          <a:bodyPr wrap="square" lIns="18288" rIns="18288" tIns="18288" bIns="18288">
            <a:spAutoFit/>
          </a:bodyPr>
          <a:lstStyle/>
          <a:p>
            <a:pPr>
              <a:defRPr sz="2900" b="1">
                <a:solidFill>
                  <a:srgbClr val="033C5A"/>
                </a:solidFill>
                <a:latin typeface="Arial"/>
              </a:defRPr>
            </a:pPr>
            <a:r>
              <a:t>Three questions, unchanged numerical commitments</a:t>
            </a:r>
          </a:p>
        </p:txBody>
      </p:sp>
      <p:sp>
        <p:nvSpPr>
          <p:cNvPr id="5" name="TextBox 4"/>
          <p:cNvSpPr txBox="1"/>
          <p:nvPr/>
        </p:nvSpPr>
        <p:spPr>
          <a:xfrm>
            <a:off x="566928" y="1920240"/>
            <a:ext cx="10927080" cy="777240"/>
          </a:xfrm>
          <a:prstGeom prst="rect">
            <a:avLst/>
          </a:prstGeom>
          <a:noFill/>
        </p:spPr>
        <p:txBody>
          <a:bodyPr wrap="square" lIns="18288" rIns="18288" tIns="18288" bIns="18288">
            <a:spAutoFit/>
          </a:bodyPr>
          <a:lstStyle/>
          <a:p>
            <a:pPr>
              <a:defRPr sz="2200" b="0">
                <a:solidFill>
                  <a:srgbClr val="033C5A"/>
                </a:solidFill>
                <a:latin typeface="Arial"/>
              </a:defRPr>
            </a:pPr>
            <a:r>
              <a:t>Representation, monitoring and inline operation must be judged together.</a:t>
            </a:r>
          </a:p>
        </p:txBody>
      </p:sp>
      <p:sp>
        <p:nvSpPr>
          <p:cNvPr id="6" name="TextBox 5"/>
          <p:cNvSpPr txBox="1"/>
          <p:nvPr/>
        </p:nvSpPr>
        <p:spPr>
          <a:xfrm>
            <a:off x="603504" y="2962656"/>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01</a:t>
            </a:r>
          </a:p>
        </p:txBody>
      </p:sp>
      <p:sp>
        <p:nvSpPr>
          <p:cNvPr id="7" name="TextBox 6"/>
          <p:cNvSpPr txBox="1"/>
          <p:nvPr/>
        </p:nvSpPr>
        <p:spPr>
          <a:xfrm>
            <a:off x="1188720" y="2962656"/>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RQ1: incremental recall with internal and external FPR ≤1%</a:t>
            </a:r>
          </a:p>
        </p:txBody>
      </p:sp>
      <p:sp>
        <p:nvSpPr>
          <p:cNvPr id="8" name="TextBox 7"/>
          <p:cNvSpPr txBox="1"/>
          <p:nvPr/>
        </p:nvSpPr>
        <p:spPr>
          <a:xfrm>
            <a:off x="603504" y="3822191"/>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02</a:t>
            </a:r>
          </a:p>
        </p:txBody>
      </p:sp>
      <p:sp>
        <p:nvSpPr>
          <p:cNvPr id="9" name="TextBox 8"/>
          <p:cNvSpPr txBox="1"/>
          <p:nvPr/>
        </p:nvSpPr>
        <p:spPr>
          <a:xfrm>
            <a:off x="1188720" y="3822191"/>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RQ2: shift sensitivity ≥80%, reference alerts ≤5%, useful future routing</a:t>
            </a:r>
          </a:p>
        </p:txBody>
      </p:sp>
      <p:sp>
        <p:nvSpPr>
          <p:cNvPr id="10" name="TextBox 9"/>
          <p:cNvSpPr txBox="1"/>
          <p:nvPr/>
        </p:nvSpPr>
        <p:spPr>
          <a:xfrm>
            <a:off x="603504" y="4681728"/>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03</a:t>
            </a:r>
          </a:p>
        </p:txBody>
      </p:sp>
      <p:sp>
        <p:nvSpPr>
          <p:cNvPr id="11" name="TextBox 10"/>
          <p:cNvSpPr txBox="1"/>
          <p:nvPr/>
        </p:nvSpPr>
        <p:spPr>
          <a:xfrm>
            <a:off x="1188720" y="4681728"/>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RQ3: recall loss ≤2 points, calls ≤30%, p95 ≤200 ms, errors &lt;0.1%</a:t>
            </a:r>
          </a:p>
        </p:txBody>
      </p:sp>
      <p:sp>
        <p:nvSpPr>
          <p:cNvPr id="12" name="TextBox 11"/>
          <p:cNvSpPr txBox="1"/>
          <p:nvPr/>
        </p:nvSpPr>
        <p:spPr>
          <a:xfrm>
            <a:off x="585216" y="5961888"/>
            <a:ext cx="10607040" cy="438912"/>
          </a:xfrm>
          <a:prstGeom prst="rect">
            <a:avLst/>
          </a:prstGeom>
          <a:noFill/>
        </p:spPr>
        <p:txBody>
          <a:bodyPr wrap="square" lIns="18288" rIns="18288" tIns="18288" bIns="18288">
            <a:spAutoFit/>
          </a:bodyPr>
          <a:lstStyle/>
          <a:p>
            <a:pPr>
              <a:defRPr sz="1200" b="0">
                <a:solidFill>
                  <a:srgbClr val="53616E"/>
                </a:solidFill>
                <a:latin typeface="Arial"/>
              </a:defRPr>
            </a:pPr>
            <a:r>
              <a:t>§§1.4.1–1.4.3; corrected-primary-gates.csv</a:t>
            </a:r>
          </a:p>
        </p:txBody>
      </p:sp>
      <p:sp>
        <p:nvSpPr>
          <p:cNvPr id="13" name="TextBox 12"/>
          <p:cNvSpPr txBox="1"/>
          <p:nvPr/>
        </p:nvSpPr>
        <p:spPr>
          <a:xfrm>
            <a:off x="585216" y="6428232"/>
            <a:ext cx="10607040" cy="219456"/>
          </a:xfrm>
          <a:prstGeom prst="rect">
            <a:avLst/>
          </a:prstGeom>
          <a:noFill/>
        </p:spPr>
        <p:txBody>
          <a:bodyPr wrap="square" lIns="18288" rIns="18288" tIns="18288" bIns="18288">
            <a:spAutoFit/>
          </a:bodyPr>
          <a:lstStyle/>
          <a:p>
            <a:pPr>
              <a:defRPr sz="1000" b="0">
                <a:solidFill>
                  <a:srgbClr val="53616E"/>
                </a:solidFill>
                <a:latin typeface="Arial"/>
              </a:defRPr>
            </a:pPr>
            <a:r>
              <a:t>Krti Tallam  ·  12 October 2026  ·  Original requirements and adverse outcomes retained</a:t>
            </a:r>
          </a:p>
        </p:txBody>
      </p:sp>
      <p:sp>
        <p:nvSpPr>
          <p:cNvPr id="14" name="TextBox 13"/>
          <p:cNvSpPr txBox="1"/>
          <p:nvPr/>
        </p:nvSpPr>
        <p:spPr>
          <a:xfrm>
            <a:off x="11109960" y="6382512"/>
            <a:ext cx="457200" cy="320040"/>
          </a:xfrm>
          <a:prstGeom prst="rect">
            <a:avLst/>
          </a:prstGeom>
          <a:noFill/>
        </p:spPr>
        <p:txBody>
          <a:bodyPr wrap="square" lIns="18288" rIns="18288" tIns="18288" bIns="18288">
            <a:spAutoFit/>
          </a:bodyPr>
          <a:lstStyle/>
          <a:p>
            <a:pPr>
              <a:defRPr sz="1300" b="1">
                <a:solidFill>
                  <a:srgbClr val="033C5A"/>
                </a:solidFill>
                <a:latin typeface="Arial"/>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B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92608"/>
            <a:ext cx="10972800" cy="274320"/>
          </a:xfrm>
          <a:prstGeom prst="rect">
            <a:avLst/>
          </a:prstGeom>
          <a:noFill/>
        </p:spPr>
        <p:txBody>
          <a:bodyPr wrap="square" lIns="18288" rIns="18288" tIns="18288" bIns="18288">
            <a:spAutoFit/>
          </a:bodyPr>
          <a:lstStyle/>
          <a:p>
            <a:pPr>
              <a:defRPr sz="1200" b="1">
                <a:solidFill>
                  <a:srgbClr val="53616E"/>
                </a:solidFill>
                <a:latin typeface="Arial"/>
              </a:defRPr>
            </a:pPr>
            <a:r>
              <a:t>CYBERSENTINEL  /  RESEARCH REVIEW</a:t>
            </a:r>
          </a:p>
        </p:txBody>
      </p:sp>
      <p:sp>
        <p:nvSpPr>
          <p:cNvPr id="4" name="TextBox 3"/>
          <p:cNvSpPr txBox="1"/>
          <p:nvPr/>
        </p:nvSpPr>
        <p:spPr>
          <a:xfrm>
            <a:off x="566928" y="832104"/>
            <a:ext cx="10972800" cy="1005840"/>
          </a:xfrm>
          <a:prstGeom prst="rect">
            <a:avLst/>
          </a:prstGeom>
          <a:noFill/>
        </p:spPr>
        <p:txBody>
          <a:bodyPr wrap="square" lIns="18288" rIns="18288" tIns="18288" bIns="18288">
            <a:spAutoFit/>
          </a:bodyPr>
          <a:lstStyle/>
          <a:p>
            <a:pPr>
              <a:defRPr sz="2900" b="1">
                <a:solidFill>
                  <a:srgbClr val="033C5A"/>
                </a:solidFill>
                <a:latin typeface="Arial"/>
              </a:defRPr>
            </a:pPr>
            <a:r>
              <a:t>Why each comparison exists</a:t>
            </a:r>
          </a:p>
        </p:txBody>
      </p:sp>
      <p:sp>
        <p:nvSpPr>
          <p:cNvPr id="5" name="TextBox 4"/>
          <p:cNvSpPr txBox="1"/>
          <p:nvPr/>
        </p:nvSpPr>
        <p:spPr>
          <a:xfrm>
            <a:off x="566928" y="1920240"/>
            <a:ext cx="10927080" cy="777240"/>
          </a:xfrm>
          <a:prstGeom prst="rect">
            <a:avLst/>
          </a:prstGeom>
          <a:noFill/>
        </p:spPr>
        <p:txBody>
          <a:bodyPr wrap="square" lIns="18288" rIns="18288" tIns="18288" bIns="18288">
            <a:spAutoFit/>
          </a:bodyPr>
          <a:lstStyle/>
          <a:p>
            <a:pPr>
              <a:defRPr sz="2200" b="0">
                <a:solidFill>
                  <a:srgbClr val="033C5A"/>
                </a:solidFill>
                <a:latin typeface="Arial"/>
              </a:defRPr>
            </a:pPr>
            <a:r>
              <a:t>Each intervention answers a different mechanism question.</a:t>
            </a:r>
          </a:p>
        </p:txBody>
      </p:sp>
      <p:sp>
        <p:nvSpPr>
          <p:cNvPr id="6" name="TextBox 5"/>
          <p:cNvSpPr txBox="1"/>
          <p:nvPr/>
        </p:nvSpPr>
        <p:spPr>
          <a:xfrm>
            <a:off x="603504" y="2962656"/>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01</a:t>
            </a:r>
          </a:p>
        </p:txBody>
      </p:sp>
      <p:sp>
        <p:nvSpPr>
          <p:cNvPr id="7" name="TextBox 6"/>
          <p:cNvSpPr txBox="1"/>
          <p:nvPr/>
        </p:nvSpPr>
        <p:spPr>
          <a:xfrm>
            <a:off x="1188720" y="2962656"/>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Original: 22 checks and 25 operational groups</a:t>
            </a:r>
          </a:p>
        </p:txBody>
      </p:sp>
      <p:sp>
        <p:nvSpPr>
          <p:cNvPr id="8" name="TextBox 7"/>
          <p:cNvSpPr txBox="1"/>
          <p:nvPr/>
        </p:nvSpPr>
        <p:spPr>
          <a:xfrm>
            <a:off x="603504" y="3822191"/>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02</a:t>
            </a:r>
          </a:p>
        </p:txBody>
      </p:sp>
      <p:sp>
        <p:nvSpPr>
          <p:cNvPr id="9" name="TextBox 8"/>
          <p:cNvSpPr txBox="1"/>
          <p:nvPr/>
        </p:nvSpPr>
        <p:spPr>
          <a:xfrm>
            <a:off x="1188720" y="3822191"/>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D / F: refitted invariant representation / frozen-model scheme spelling</a:t>
            </a:r>
          </a:p>
        </p:txBody>
      </p:sp>
      <p:sp>
        <p:nvSpPr>
          <p:cNvPr id="10" name="TextBox 9"/>
          <p:cNvSpPr txBox="1"/>
          <p:nvPr/>
        </p:nvSpPr>
        <p:spPr>
          <a:xfrm>
            <a:off x="603504" y="4681728"/>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03</a:t>
            </a:r>
          </a:p>
        </p:txBody>
      </p:sp>
      <p:sp>
        <p:nvSpPr>
          <p:cNvPr id="11" name="TextBox 10"/>
          <p:cNvSpPr txBox="1"/>
          <p:nvPr/>
        </p:nvSpPr>
        <p:spPr>
          <a:xfrm>
            <a:off x="1188720" y="4681728"/>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R / C / P / S: routing / actual computation / fit audit / HTTP client design</a:t>
            </a:r>
          </a:p>
        </p:txBody>
      </p:sp>
      <p:sp>
        <p:nvSpPr>
          <p:cNvPr id="12" name="TextBox 11"/>
          <p:cNvSpPr txBox="1"/>
          <p:nvPr/>
        </p:nvSpPr>
        <p:spPr>
          <a:xfrm>
            <a:off x="585216" y="5961888"/>
            <a:ext cx="10607040" cy="438912"/>
          </a:xfrm>
          <a:prstGeom prst="rect">
            <a:avLst/>
          </a:prstGeom>
          <a:noFill/>
        </p:spPr>
        <p:txBody>
          <a:bodyPr wrap="square" lIns="18288" rIns="18288" tIns="18288" bIns="18288">
            <a:spAutoFit/>
          </a:bodyPr>
          <a:lstStyle/>
          <a:p>
            <a:pPr>
              <a:defRPr sz="1200" b="0">
                <a:solidFill>
                  <a:srgbClr val="53616E"/>
                </a:solidFill>
                <a:latin typeface="Arial"/>
              </a:defRPr>
            </a:pPr>
            <a:r>
              <a:t>§§3.15–3.16; Appendices A–C</a:t>
            </a:r>
          </a:p>
        </p:txBody>
      </p:sp>
      <p:sp>
        <p:nvSpPr>
          <p:cNvPr id="13" name="TextBox 12"/>
          <p:cNvSpPr txBox="1"/>
          <p:nvPr/>
        </p:nvSpPr>
        <p:spPr>
          <a:xfrm>
            <a:off x="585216" y="6428232"/>
            <a:ext cx="10607040" cy="219456"/>
          </a:xfrm>
          <a:prstGeom prst="rect">
            <a:avLst/>
          </a:prstGeom>
          <a:noFill/>
        </p:spPr>
        <p:txBody>
          <a:bodyPr wrap="square" lIns="18288" rIns="18288" tIns="18288" bIns="18288">
            <a:spAutoFit/>
          </a:bodyPr>
          <a:lstStyle/>
          <a:p>
            <a:pPr>
              <a:defRPr sz="1000" b="0">
                <a:solidFill>
                  <a:srgbClr val="53616E"/>
                </a:solidFill>
                <a:latin typeface="Arial"/>
              </a:defRPr>
            </a:pPr>
            <a:r>
              <a:t>Krti Tallam  ·  12 October 2026  ·  Original requirements and adverse outcomes retained</a:t>
            </a:r>
          </a:p>
        </p:txBody>
      </p:sp>
      <p:sp>
        <p:nvSpPr>
          <p:cNvPr id="14" name="TextBox 13"/>
          <p:cNvSpPr txBox="1"/>
          <p:nvPr/>
        </p:nvSpPr>
        <p:spPr>
          <a:xfrm>
            <a:off x="11109960" y="6382512"/>
            <a:ext cx="457200" cy="320040"/>
          </a:xfrm>
          <a:prstGeom prst="rect">
            <a:avLst/>
          </a:prstGeom>
          <a:noFill/>
        </p:spPr>
        <p:txBody>
          <a:bodyPr wrap="square" lIns="18288" rIns="18288" tIns="18288" bIns="18288">
            <a:spAutoFit/>
          </a:bodyPr>
          <a:lstStyle/>
          <a:p>
            <a:pPr>
              <a:defRPr sz="1300" b="1">
                <a:solidFill>
                  <a:srgbClr val="033C5A"/>
                </a:solidFill>
                <a:latin typeface="Arial"/>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B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92608"/>
            <a:ext cx="10972800" cy="274320"/>
          </a:xfrm>
          <a:prstGeom prst="rect">
            <a:avLst/>
          </a:prstGeom>
          <a:noFill/>
        </p:spPr>
        <p:txBody>
          <a:bodyPr wrap="square" lIns="18288" rIns="18288" tIns="18288" bIns="18288">
            <a:spAutoFit/>
          </a:bodyPr>
          <a:lstStyle/>
          <a:p>
            <a:pPr>
              <a:defRPr sz="1200" b="1">
                <a:solidFill>
                  <a:srgbClr val="53616E"/>
                </a:solidFill>
                <a:latin typeface="Arial"/>
              </a:defRPr>
            </a:pPr>
            <a:r>
              <a:t>CYBERSENTINEL  /  RESEARCH REVIEW</a:t>
            </a:r>
          </a:p>
        </p:txBody>
      </p:sp>
      <p:sp>
        <p:nvSpPr>
          <p:cNvPr id="4" name="TextBox 3"/>
          <p:cNvSpPr txBox="1"/>
          <p:nvPr/>
        </p:nvSpPr>
        <p:spPr>
          <a:xfrm>
            <a:off x="566928" y="832104"/>
            <a:ext cx="10972800" cy="1005840"/>
          </a:xfrm>
          <a:prstGeom prst="rect">
            <a:avLst/>
          </a:prstGeom>
          <a:noFill/>
        </p:spPr>
        <p:txBody>
          <a:bodyPr wrap="square" lIns="18288" rIns="18288" tIns="18288" bIns="18288">
            <a:spAutoFit/>
          </a:bodyPr>
          <a:lstStyle/>
          <a:p>
            <a:pPr>
              <a:defRPr sz="2900" b="1">
                <a:solidFill>
                  <a:srgbClr val="033C5A"/>
                </a:solidFill>
                <a:latin typeface="Arial"/>
              </a:defRPr>
            </a:pPr>
            <a:r>
              <a:t>Structural information adds recall; specificity does not transfer</a:t>
            </a:r>
          </a:p>
        </p:txBody>
      </p:sp>
      <p:sp>
        <p:nvSpPr>
          <p:cNvPr id="5" name="TextBox 4"/>
          <p:cNvSpPr txBox="1"/>
          <p:nvPr/>
        </p:nvSpPr>
        <p:spPr>
          <a:xfrm>
            <a:off x="566928" y="1920240"/>
            <a:ext cx="10927080" cy="777240"/>
          </a:xfrm>
          <a:prstGeom prst="rect">
            <a:avLst/>
          </a:prstGeom>
          <a:noFill/>
        </p:spPr>
        <p:txBody>
          <a:bodyPr wrap="square" lIns="18288" rIns="18288" tIns="18288" bIns="18288">
            <a:spAutoFit/>
          </a:bodyPr>
          <a:lstStyle/>
          <a:p>
            <a:pPr>
              <a:defRPr sz="2200" b="0">
                <a:solidFill>
                  <a:srgbClr val="033C5A"/>
                </a:solidFill>
                <a:latin typeface="Arial"/>
              </a:defRPr>
            </a:pPr>
            <a:r>
              <a:t>RQ1 separates representation value from the chosen operating point.</a:t>
            </a:r>
          </a:p>
        </p:txBody>
      </p:sp>
      <p:sp>
        <p:nvSpPr>
          <p:cNvPr id="6" name="TextBox 5"/>
          <p:cNvSpPr txBox="1"/>
          <p:nvPr/>
        </p:nvSpPr>
        <p:spPr>
          <a:xfrm>
            <a:off x="603504" y="2962656"/>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01</a:t>
            </a:r>
          </a:p>
        </p:txBody>
      </p:sp>
      <p:sp>
        <p:nvSpPr>
          <p:cNvPr id="7" name="TextBox 6"/>
          <p:cNvSpPr txBox="1"/>
          <p:nvPr/>
        </p:nvSpPr>
        <p:spPr>
          <a:xfrm>
            <a:off x="1188720" y="2962656"/>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Structural-over-length gain: +64.07 points internal; +76.81 external</a:t>
            </a:r>
          </a:p>
        </p:txBody>
      </p:sp>
      <p:sp>
        <p:nvSpPr>
          <p:cNvPr id="8" name="TextBox 7"/>
          <p:cNvSpPr txBox="1"/>
          <p:nvPr/>
        </p:nvSpPr>
        <p:spPr>
          <a:xfrm>
            <a:off x="603504" y="3822191"/>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02</a:t>
            </a:r>
          </a:p>
        </p:txBody>
      </p:sp>
      <p:sp>
        <p:nvSpPr>
          <p:cNvPr id="9" name="TextBox 8"/>
          <p:cNvSpPr txBox="1"/>
          <p:nvPr/>
        </p:nvSpPr>
        <p:spPr>
          <a:xfrm>
            <a:off x="1188720" y="3822191"/>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Internal structural FPR: 0.7747%; external certified FPR: 90.5487%</a:t>
            </a:r>
          </a:p>
        </p:txBody>
      </p:sp>
      <p:sp>
        <p:nvSpPr>
          <p:cNvPr id="10" name="TextBox 9"/>
          <p:cNvSpPr txBox="1"/>
          <p:nvPr/>
        </p:nvSpPr>
        <p:spPr>
          <a:xfrm>
            <a:off x="603504" y="4681728"/>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03</a:t>
            </a:r>
          </a:p>
        </p:txBody>
      </p:sp>
      <p:sp>
        <p:nvSpPr>
          <p:cNvPr id="11" name="TextBox 10"/>
          <p:cNvSpPr txBox="1"/>
          <p:nvPr/>
        </p:nvSpPr>
        <p:spPr>
          <a:xfrm>
            <a:off x="1188720" y="4681728"/>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Original gate selects no evaluation calls, so cascade recall gain is zero</a:t>
            </a:r>
          </a:p>
        </p:txBody>
      </p:sp>
      <p:sp>
        <p:nvSpPr>
          <p:cNvPr id="12" name="TextBox 11"/>
          <p:cNvSpPr txBox="1"/>
          <p:nvPr/>
        </p:nvSpPr>
        <p:spPr>
          <a:xfrm>
            <a:off x="585216" y="5961888"/>
            <a:ext cx="10607040" cy="438912"/>
          </a:xfrm>
          <a:prstGeom prst="rect">
            <a:avLst/>
          </a:prstGeom>
          <a:noFill/>
        </p:spPr>
        <p:txBody>
          <a:bodyPr wrap="square" lIns="18288" rIns="18288" tIns="18288" bIns="18288">
            <a:spAutoFit/>
          </a:bodyPr>
          <a:lstStyle/>
          <a:p>
            <a:pPr>
              <a:defRPr sz="1200" b="0">
                <a:solidFill>
                  <a:srgbClr val="53616E"/>
                </a:solidFill>
                <a:latin typeface="Arial"/>
              </a:defRPr>
            </a:pPr>
            <a:r>
              <a:t>§§3.8, 4.2; Tables 4.2–4.3</a:t>
            </a:r>
          </a:p>
        </p:txBody>
      </p:sp>
      <p:sp>
        <p:nvSpPr>
          <p:cNvPr id="13" name="TextBox 12"/>
          <p:cNvSpPr txBox="1"/>
          <p:nvPr/>
        </p:nvSpPr>
        <p:spPr>
          <a:xfrm>
            <a:off x="585216" y="6428232"/>
            <a:ext cx="10607040" cy="219456"/>
          </a:xfrm>
          <a:prstGeom prst="rect">
            <a:avLst/>
          </a:prstGeom>
          <a:noFill/>
        </p:spPr>
        <p:txBody>
          <a:bodyPr wrap="square" lIns="18288" rIns="18288" tIns="18288" bIns="18288">
            <a:spAutoFit/>
          </a:bodyPr>
          <a:lstStyle/>
          <a:p>
            <a:pPr>
              <a:defRPr sz="1000" b="0">
                <a:solidFill>
                  <a:srgbClr val="53616E"/>
                </a:solidFill>
                <a:latin typeface="Arial"/>
              </a:defRPr>
            </a:pPr>
            <a:r>
              <a:t>Krti Tallam  ·  12 October 2026  ·  Original requirements and adverse outcomes retained</a:t>
            </a:r>
          </a:p>
        </p:txBody>
      </p:sp>
      <p:sp>
        <p:nvSpPr>
          <p:cNvPr id="14" name="TextBox 13"/>
          <p:cNvSpPr txBox="1"/>
          <p:nvPr/>
        </p:nvSpPr>
        <p:spPr>
          <a:xfrm>
            <a:off x="11109960" y="6382512"/>
            <a:ext cx="457200" cy="320040"/>
          </a:xfrm>
          <a:prstGeom prst="rect">
            <a:avLst/>
          </a:prstGeom>
          <a:noFill/>
        </p:spPr>
        <p:txBody>
          <a:bodyPr wrap="square" lIns="18288" rIns="18288" tIns="18288" bIns="18288">
            <a:spAutoFit/>
          </a:bodyPr>
          <a:lstStyle/>
          <a:p>
            <a:pPr>
              <a:defRPr sz="1300" b="1">
                <a:solidFill>
                  <a:srgbClr val="033C5A"/>
                </a:solidFill>
                <a:latin typeface="Arial"/>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B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92608"/>
            <a:ext cx="10972800" cy="274320"/>
          </a:xfrm>
          <a:prstGeom prst="rect">
            <a:avLst/>
          </a:prstGeom>
          <a:noFill/>
        </p:spPr>
        <p:txBody>
          <a:bodyPr wrap="square" lIns="18288" rIns="18288" tIns="18288" bIns="18288">
            <a:spAutoFit/>
          </a:bodyPr>
          <a:lstStyle/>
          <a:p>
            <a:pPr>
              <a:defRPr sz="1200" b="1">
                <a:solidFill>
                  <a:srgbClr val="53616E"/>
                </a:solidFill>
                <a:latin typeface="Arial"/>
              </a:defRPr>
            </a:pPr>
            <a:r>
              <a:t>CYBERSENTINEL  /  RESEARCH REVIEW</a:t>
            </a:r>
          </a:p>
        </p:txBody>
      </p:sp>
      <p:sp>
        <p:nvSpPr>
          <p:cNvPr id="4" name="TextBox 3"/>
          <p:cNvSpPr txBox="1"/>
          <p:nvPr/>
        </p:nvSpPr>
        <p:spPr>
          <a:xfrm>
            <a:off x="566928" y="832104"/>
            <a:ext cx="10972800" cy="1005840"/>
          </a:xfrm>
          <a:prstGeom prst="rect">
            <a:avLst/>
          </a:prstGeom>
          <a:noFill/>
        </p:spPr>
        <p:txBody>
          <a:bodyPr wrap="square" lIns="18288" rIns="18288" tIns="18288" bIns="18288">
            <a:spAutoFit/>
          </a:bodyPr>
          <a:lstStyle/>
          <a:p>
            <a:pPr>
              <a:defRPr sz="2900" b="1">
                <a:solidFill>
                  <a:srgbClr val="033C5A"/>
                </a:solidFill>
                <a:latin typeface="Arial"/>
              </a:defRPr>
            </a:pPr>
            <a:r>
              <a:t>Diagnose the shared errors before redesigning the gate</a:t>
            </a:r>
          </a:p>
        </p:txBody>
      </p:sp>
      <p:sp>
        <p:nvSpPr>
          <p:cNvPr id="5" name="TextBox 4"/>
          <p:cNvSpPr txBox="1"/>
          <p:nvPr/>
        </p:nvSpPr>
        <p:spPr>
          <a:xfrm>
            <a:off x="566928" y="1920240"/>
            <a:ext cx="10927080" cy="777240"/>
          </a:xfrm>
          <a:prstGeom prst="rect">
            <a:avLst/>
          </a:prstGeom>
          <a:noFill/>
        </p:spPr>
        <p:txBody>
          <a:bodyPr wrap="square" lIns="18288" rIns="18288" tIns="18288" bIns="18288">
            <a:spAutoFit/>
          </a:bodyPr>
          <a:lstStyle/>
          <a:p>
            <a:pPr>
              <a:defRPr sz="2200" b="0">
                <a:solidFill>
                  <a:srgbClr val="033C5A"/>
                </a:solidFill>
                <a:latin typeface="Arial"/>
              </a:defRPr>
            </a:pPr>
            <a:r>
              <a:t>A selector cannot fix errors shared by both unchanged decisions.</a:t>
            </a:r>
          </a:p>
        </p:txBody>
      </p:sp>
      <p:sp>
        <p:nvSpPr>
          <p:cNvPr id="6" name="TextBox 5"/>
          <p:cNvSpPr txBox="1"/>
          <p:nvPr/>
        </p:nvSpPr>
        <p:spPr>
          <a:xfrm>
            <a:off x="603504" y="2962656"/>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01</a:t>
            </a:r>
          </a:p>
        </p:txBody>
      </p:sp>
      <p:sp>
        <p:nvSpPr>
          <p:cNvPr id="7" name="TextBox 6"/>
          <p:cNvSpPr txBox="1"/>
          <p:nvPr/>
        </p:nvSpPr>
        <p:spPr>
          <a:xfrm>
            <a:off x="1188720" y="2962656"/>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Original certified negatives: 2,261 shared false positives / 2,497</a:t>
            </a:r>
          </a:p>
        </p:txBody>
      </p:sp>
      <p:sp>
        <p:nvSpPr>
          <p:cNvPr id="8" name="TextBox 7"/>
          <p:cNvSpPr txBox="1"/>
          <p:nvPr/>
        </p:nvSpPr>
        <p:spPr>
          <a:xfrm>
            <a:off x="603504" y="3822191"/>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02</a:t>
            </a:r>
          </a:p>
        </p:txBody>
      </p:sp>
      <p:sp>
        <p:nvSpPr>
          <p:cNvPr id="9" name="TextBox 8"/>
          <p:cNvSpPr txBox="1"/>
          <p:nvPr/>
        </p:nvSpPr>
        <p:spPr>
          <a:xfrm>
            <a:off x="1188720" y="3822191"/>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Transformer repairs 0 and introduces 218 negative errors</a:t>
            </a:r>
          </a:p>
        </p:txBody>
      </p:sp>
      <p:sp>
        <p:nvSpPr>
          <p:cNvPr id="10" name="TextBox 9"/>
          <p:cNvSpPr txBox="1"/>
          <p:nvPr/>
        </p:nvSpPr>
        <p:spPr>
          <a:xfrm>
            <a:off x="603504" y="4681728"/>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03</a:t>
            </a:r>
          </a:p>
        </p:txBody>
      </p:sp>
      <p:sp>
        <p:nvSpPr>
          <p:cNvPr id="11" name="TextBox 10"/>
          <p:cNvSpPr txBox="1"/>
          <p:nvPr/>
        </p:nvSpPr>
        <p:spPr>
          <a:xfrm>
            <a:off x="1188720" y="4681728"/>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Observed unchanged-decision selector floor: 90.5487% FPR</a:t>
            </a:r>
          </a:p>
        </p:txBody>
      </p:sp>
      <p:sp>
        <p:nvSpPr>
          <p:cNvPr id="12" name="TextBox 11"/>
          <p:cNvSpPr txBox="1"/>
          <p:nvPr/>
        </p:nvSpPr>
        <p:spPr>
          <a:xfrm>
            <a:off x="585216" y="5961888"/>
            <a:ext cx="10607040" cy="438912"/>
          </a:xfrm>
          <a:prstGeom prst="rect">
            <a:avLst/>
          </a:prstGeom>
          <a:noFill/>
        </p:spPr>
        <p:txBody>
          <a:bodyPr wrap="square" lIns="18288" rIns="18288" tIns="18288" bIns="18288">
            <a:spAutoFit/>
          </a:bodyPr>
          <a:lstStyle/>
          <a:p>
            <a:pPr>
              <a:defRPr sz="1200" b="0">
                <a:solidFill>
                  <a:srgbClr val="53616E"/>
                </a:solidFill>
                <a:latin typeface="Arial"/>
              </a:defRPr>
            </a:pPr>
            <a:r>
              <a:t>§4.8.1; saved-score-routing-replay-v2.json</a:t>
            </a:r>
          </a:p>
        </p:txBody>
      </p:sp>
      <p:sp>
        <p:nvSpPr>
          <p:cNvPr id="13" name="TextBox 12"/>
          <p:cNvSpPr txBox="1"/>
          <p:nvPr/>
        </p:nvSpPr>
        <p:spPr>
          <a:xfrm>
            <a:off x="585216" y="6428232"/>
            <a:ext cx="10607040" cy="219456"/>
          </a:xfrm>
          <a:prstGeom prst="rect">
            <a:avLst/>
          </a:prstGeom>
          <a:noFill/>
        </p:spPr>
        <p:txBody>
          <a:bodyPr wrap="square" lIns="18288" rIns="18288" tIns="18288" bIns="18288">
            <a:spAutoFit/>
          </a:bodyPr>
          <a:lstStyle/>
          <a:p>
            <a:pPr>
              <a:defRPr sz="1000" b="0">
                <a:solidFill>
                  <a:srgbClr val="53616E"/>
                </a:solidFill>
                <a:latin typeface="Arial"/>
              </a:defRPr>
            </a:pPr>
            <a:r>
              <a:t>Krti Tallam  ·  12 October 2026  ·  Original requirements and adverse outcomes retained</a:t>
            </a:r>
          </a:p>
        </p:txBody>
      </p:sp>
      <p:sp>
        <p:nvSpPr>
          <p:cNvPr id="14" name="TextBox 13"/>
          <p:cNvSpPr txBox="1"/>
          <p:nvPr/>
        </p:nvSpPr>
        <p:spPr>
          <a:xfrm>
            <a:off x="11109960" y="6382512"/>
            <a:ext cx="457200" cy="320040"/>
          </a:xfrm>
          <a:prstGeom prst="rect">
            <a:avLst/>
          </a:prstGeom>
          <a:noFill/>
        </p:spPr>
        <p:txBody>
          <a:bodyPr wrap="square" lIns="18288" rIns="18288" tIns="18288" bIns="18288">
            <a:spAutoFit/>
          </a:bodyPr>
          <a:lstStyle/>
          <a:p>
            <a:pPr>
              <a:defRPr sz="1300" b="1">
                <a:solidFill>
                  <a:srgbClr val="033C5A"/>
                </a:solidFill>
                <a:latin typeface="Arial"/>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B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92608"/>
            <a:ext cx="10972800" cy="274320"/>
          </a:xfrm>
          <a:prstGeom prst="rect">
            <a:avLst/>
          </a:prstGeom>
          <a:noFill/>
        </p:spPr>
        <p:txBody>
          <a:bodyPr wrap="square" lIns="18288" rIns="18288" tIns="18288" bIns="18288">
            <a:spAutoFit/>
          </a:bodyPr>
          <a:lstStyle/>
          <a:p>
            <a:pPr>
              <a:defRPr sz="1200" b="1">
                <a:solidFill>
                  <a:srgbClr val="53616E"/>
                </a:solidFill>
                <a:latin typeface="Arial"/>
              </a:defRPr>
            </a:pPr>
            <a:r>
              <a:t>CYBERSENTINEL  /  RESEARCH REVIEW</a:t>
            </a:r>
          </a:p>
        </p:txBody>
      </p:sp>
      <p:sp>
        <p:nvSpPr>
          <p:cNvPr id="4" name="TextBox 3"/>
          <p:cNvSpPr txBox="1"/>
          <p:nvPr/>
        </p:nvSpPr>
        <p:spPr>
          <a:xfrm>
            <a:off x="566928" y="832104"/>
            <a:ext cx="10972800" cy="1005840"/>
          </a:xfrm>
          <a:prstGeom prst="rect">
            <a:avLst/>
          </a:prstGeom>
          <a:noFill/>
        </p:spPr>
        <p:txBody>
          <a:bodyPr wrap="square" lIns="18288" rIns="18288" tIns="18288" bIns="18288">
            <a:spAutoFit/>
          </a:bodyPr>
          <a:lstStyle/>
          <a:p>
            <a:pPr>
              <a:defRPr sz="2900" b="1">
                <a:solidFill>
                  <a:srgbClr val="033C5A"/>
                </a:solidFill>
                <a:latin typeface="Arial"/>
              </a:defRPr>
            </a:pPr>
            <a:r>
              <a:t>Changing the scheme moves both classes</a:t>
            </a:r>
          </a:p>
        </p:txBody>
      </p:sp>
      <p:sp>
        <p:nvSpPr>
          <p:cNvPr id="5" name="TextBox 4"/>
          <p:cNvSpPr txBox="1"/>
          <p:nvPr/>
        </p:nvSpPr>
        <p:spPr>
          <a:xfrm>
            <a:off x="566928" y="1920240"/>
            <a:ext cx="10927080" cy="777240"/>
          </a:xfrm>
          <a:prstGeom prst="rect">
            <a:avLst/>
          </a:prstGeom>
          <a:noFill/>
        </p:spPr>
        <p:txBody>
          <a:bodyPr wrap="square" lIns="18288" rIns="18288" tIns="18288" bIns="18288">
            <a:spAutoFit/>
          </a:bodyPr>
          <a:lstStyle/>
          <a:p>
            <a:pPr>
              <a:defRPr sz="2200" b="0">
                <a:solidFill>
                  <a:srgbClr val="033C5A"/>
                </a:solidFill>
                <a:latin typeface="Arial"/>
              </a:defRPr>
            </a:pPr>
            <a:r>
              <a:t>F isolates spelling sensitivity with model, scaler and threshold fixed.</a:t>
            </a:r>
          </a:p>
        </p:txBody>
      </p:sp>
      <p:sp>
        <p:nvSpPr>
          <p:cNvPr id="6" name="TextBox 5"/>
          <p:cNvSpPr txBox="1"/>
          <p:nvPr/>
        </p:nvSpPr>
        <p:spPr>
          <a:xfrm>
            <a:off x="603504" y="2962656"/>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01</a:t>
            </a:r>
          </a:p>
        </p:txBody>
      </p:sp>
      <p:sp>
        <p:nvSpPr>
          <p:cNvPr id="7" name="TextBox 6"/>
          <p:cNvSpPr txBox="1"/>
          <p:nvPr/>
        </p:nvSpPr>
        <p:spPr>
          <a:xfrm>
            <a:off x="1188720" y="2962656"/>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Retained spelling: TP 69/69; FP 2,261/2,497</a:t>
            </a:r>
          </a:p>
        </p:txBody>
      </p:sp>
      <p:sp>
        <p:nvSpPr>
          <p:cNvPr id="8" name="TextBox 7"/>
          <p:cNvSpPr txBox="1"/>
          <p:nvPr/>
        </p:nvSpPr>
        <p:spPr>
          <a:xfrm>
            <a:off x="603504" y="3822191"/>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02</a:t>
            </a:r>
          </a:p>
        </p:txBody>
      </p:sp>
      <p:sp>
        <p:nvSpPr>
          <p:cNvPr id="9" name="TextBox 8"/>
          <p:cNvSpPr txBox="1"/>
          <p:nvPr/>
        </p:nvSpPr>
        <p:spPr>
          <a:xfrm>
            <a:off x="1188720" y="3822191"/>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Forced HTTPS: TP 22/69; FP 50/2,497</a:t>
            </a:r>
          </a:p>
        </p:txBody>
      </p:sp>
      <p:sp>
        <p:nvSpPr>
          <p:cNvPr id="10" name="TextBox 9"/>
          <p:cNvSpPr txBox="1"/>
          <p:nvPr/>
        </p:nvSpPr>
        <p:spPr>
          <a:xfrm>
            <a:off x="603504" y="4681728"/>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03</a:t>
            </a:r>
          </a:p>
        </p:txBody>
      </p:sp>
      <p:sp>
        <p:nvSpPr>
          <p:cNvPr id="11" name="TextBox 10"/>
          <p:cNvSpPr txBox="1"/>
          <p:nvPr/>
        </p:nvSpPr>
        <p:spPr>
          <a:xfrm>
            <a:off x="1188720" y="4681728"/>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2,211 fewer false positives, but 47 fewer positive detections</a:t>
            </a:r>
          </a:p>
        </p:txBody>
      </p:sp>
      <p:sp>
        <p:nvSpPr>
          <p:cNvPr id="12" name="TextBox 11"/>
          <p:cNvSpPr txBox="1"/>
          <p:nvPr/>
        </p:nvSpPr>
        <p:spPr>
          <a:xfrm>
            <a:off x="585216" y="5961888"/>
            <a:ext cx="10607040" cy="438912"/>
          </a:xfrm>
          <a:prstGeom prst="rect">
            <a:avLst/>
          </a:prstGeom>
          <a:noFill/>
        </p:spPr>
        <p:txBody>
          <a:bodyPr wrap="square" lIns="18288" rIns="18288" tIns="18288" bIns="18288">
            <a:spAutoFit/>
          </a:bodyPr>
          <a:lstStyle/>
          <a:p>
            <a:pPr>
              <a:defRPr sz="1200" b="0">
                <a:solidFill>
                  <a:srgbClr val="53616E"/>
                </a:solidFill>
                <a:latin typeface="Arial"/>
              </a:defRPr>
            </a:pPr>
            <a:r>
              <a:t>§4.10.1; Table 4.21; F-formatting.csv</a:t>
            </a:r>
          </a:p>
        </p:txBody>
      </p:sp>
      <p:sp>
        <p:nvSpPr>
          <p:cNvPr id="13" name="TextBox 12"/>
          <p:cNvSpPr txBox="1"/>
          <p:nvPr/>
        </p:nvSpPr>
        <p:spPr>
          <a:xfrm>
            <a:off x="585216" y="6428232"/>
            <a:ext cx="10607040" cy="219456"/>
          </a:xfrm>
          <a:prstGeom prst="rect">
            <a:avLst/>
          </a:prstGeom>
          <a:noFill/>
        </p:spPr>
        <p:txBody>
          <a:bodyPr wrap="square" lIns="18288" rIns="18288" tIns="18288" bIns="18288">
            <a:spAutoFit/>
          </a:bodyPr>
          <a:lstStyle/>
          <a:p>
            <a:pPr>
              <a:defRPr sz="1000" b="0">
                <a:solidFill>
                  <a:srgbClr val="53616E"/>
                </a:solidFill>
                <a:latin typeface="Arial"/>
              </a:defRPr>
            </a:pPr>
            <a:r>
              <a:t>Krti Tallam  ·  12 October 2026  ·  Original requirements and adverse outcomes retained</a:t>
            </a:r>
          </a:p>
        </p:txBody>
      </p:sp>
      <p:sp>
        <p:nvSpPr>
          <p:cNvPr id="14" name="TextBox 13"/>
          <p:cNvSpPr txBox="1"/>
          <p:nvPr/>
        </p:nvSpPr>
        <p:spPr>
          <a:xfrm>
            <a:off x="11109960" y="6382512"/>
            <a:ext cx="457200" cy="320040"/>
          </a:xfrm>
          <a:prstGeom prst="rect">
            <a:avLst/>
          </a:prstGeom>
          <a:noFill/>
        </p:spPr>
        <p:txBody>
          <a:bodyPr wrap="square" lIns="18288" rIns="18288" tIns="18288" bIns="18288">
            <a:spAutoFit/>
          </a:bodyPr>
          <a:lstStyle/>
          <a:p>
            <a:pPr>
              <a:defRPr sz="1300" b="1">
                <a:solidFill>
                  <a:srgbClr val="033C5A"/>
                </a:solidFill>
                <a:latin typeface="Arial"/>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B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92608"/>
            <a:ext cx="10972800" cy="274320"/>
          </a:xfrm>
          <a:prstGeom prst="rect">
            <a:avLst/>
          </a:prstGeom>
          <a:noFill/>
        </p:spPr>
        <p:txBody>
          <a:bodyPr wrap="square" lIns="18288" rIns="18288" tIns="18288" bIns="18288">
            <a:spAutoFit/>
          </a:bodyPr>
          <a:lstStyle/>
          <a:p>
            <a:pPr>
              <a:defRPr sz="1200" b="1">
                <a:solidFill>
                  <a:srgbClr val="53616E"/>
                </a:solidFill>
                <a:latin typeface="Arial"/>
              </a:defRPr>
            </a:pPr>
            <a:r>
              <a:t>CYBERSENTINEL  /  RESEARCH REVIEW</a:t>
            </a:r>
          </a:p>
        </p:txBody>
      </p:sp>
      <p:sp>
        <p:nvSpPr>
          <p:cNvPr id="4" name="TextBox 3"/>
          <p:cNvSpPr txBox="1"/>
          <p:nvPr/>
        </p:nvSpPr>
        <p:spPr>
          <a:xfrm>
            <a:off x="566928" y="832104"/>
            <a:ext cx="10972800" cy="1005840"/>
          </a:xfrm>
          <a:prstGeom prst="rect">
            <a:avLst/>
          </a:prstGeom>
          <a:noFill/>
        </p:spPr>
        <p:txBody>
          <a:bodyPr wrap="square" lIns="18288" rIns="18288" tIns="18288" bIns="18288">
            <a:spAutoFit/>
          </a:bodyPr>
          <a:lstStyle/>
          <a:p>
            <a:pPr>
              <a:defRPr sz="2900" b="1">
                <a:solidFill>
                  <a:srgbClr val="033C5A"/>
                </a:solidFill>
                <a:latin typeface="Arial"/>
              </a:defRPr>
            </a:pPr>
            <a:r>
              <a:t>A wider gate must select repairs, not simply more cases</a:t>
            </a:r>
          </a:p>
        </p:txBody>
      </p:sp>
      <p:sp>
        <p:nvSpPr>
          <p:cNvPr id="5" name="TextBox 4"/>
          <p:cNvSpPr txBox="1"/>
          <p:nvPr/>
        </p:nvSpPr>
        <p:spPr>
          <a:xfrm>
            <a:off x="566928" y="1920240"/>
            <a:ext cx="10927080" cy="777240"/>
          </a:xfrm>
          <a:prstGeom prst="rect">
            <a:avLst/>
          </a:prstGeom>
          <a:noFill/>
        </p:spPr>
        <p:txBody>
          <a:bodyPr wrap="square" lIns="18288" rIns="18288" tIns="18288" bIns="18288">
            <a:spAutoFit/>
          </a:bodyPr>
          <a:lstStyle/>
          <a:p>
            <a:pPr>
              <a:defRPr sz="2200" b="0">
                <a:solidFill>
                  <a:srgbClr val="033C5A"/>
                </a:solidFill>
                <a:latin typeface="Arial"/>
              </a:defRPr>
            </a:pPr>
            <a:r>
              <a:t>Development benefit did not transfer to R's retained domain-balanced frame.</a:t>
            </a:r>
          </a:p>
        </p:txBody>
      </p:sp>
      <p:sp>
        <p:nvSpPr>
          <p:cNvPr id="6" name="TextBox 5"/>
          <p:cNvSpPr txBox="1"/>
          <p:nvPr/>
        </p:nvSpPr>
        <p:spPr>
          <a:xfrm>
            <a:off x="603504" y="2962656"/>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01</a:t>
            </a:r>
          </a:p>
        </p:txBody>
      </p:sp>
      <p:sp>
        <p:nvSpPr>
          <p:cNvPr id="7" name="TextBox 6"/>
          <p:cNvSpPr txBox="1"/>
          <p:nvPr/>
        </p:nvSpPr>
        <p:spPr>
          <a:xfrm>
            <a:off x="1188720" y="2962656"/>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R: 1,392 positive + 1,262 negative domains; one URL per domain</a:t>
            </a:r>
          </a:p>
        </p:txBody>
      </p:sp>
      <p:sp>
        <p:nvSpPr>
          <p:cNvPr id="8" name="TextBox 7"/>
          <p:cNvSpPr txBox="1"/>
          <p:nvPr/>
        </p:nvSpPr>
        <p:spPr>
          <a:xfrm>
            <a:off x="603504" y="3822191"/>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02</a:t>
            </a:r>
          </a:p>
        </p:txBody>
      </p:sp>
      <p:sp>
        <p:nvSpPr>
          <p:cNvPr id="9" name="TextBox 8"/>
          <p:cNvSpPr txBox="1"/>
          <p:nvPr/>
        </p:nvSpPr>
        <p:spPr>
          <a:xfrm>
            <a:off x="1188720" y="3822191"/>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Symmetric gate: 21 calls / 2,654; 0 selected repairs; 18 new false positives</a:t>
            </a:r>
          </a:p>
        </p:txBody>
      </p:sp>
      <p:sp>
        <p:nvSpPr>
          <p:cNvPr id="10" name="TextBox 9"/>
          <p:cNvSpPr txBox="1"/>
          <p:nvPr/>
        </p:nvSpPr>
        <p:spPr>
          <a:xfrm>
            <a:off x="603504" y="4681728"/>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03</a:t>
            </a:r>
          </a:p>
        </p:txBody>
      </p:sp>
      <p:sp>
        <p:nvSpPr>
          <p:cNvPr id="11" name="TextBox 10"/>
          <p:cNvSpPr txBox="1"/>
          <p:nvPr/>
        </p:nvSpPr>
        <p:spPr>
          <a:xfrm>
            <a:off x="1188720" y="4681728"/>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All systems detect 1,392 positives; structural FP 1,028, symmetric FP 1,046</a:t>
            </a:r>
          </a:p>
        </p:txBody>
      </p:sp>
      <p:sp>
        <p:nvSpPr>
          <p:cNvPr id="12" name="TextBox 11"/>
          <p:cNvSpPr txBox="1"/>
          <p:nvPr/>
        </p:nvSpPr>
        <p:spPr>
          <a:xfrm>
            <a:off x="585216" y="5961888"/>
            <a:ext cx="10607040" cy="438912"/>
          </a:xfrm>
          <a:prstGeom prst="rect">
            <a:avLst/>
          </a:prstGeom>
          <a:noFill/>
        </p:spPr>
        <p:txBody>
          <a:bodyPr wrap="square" lIns="18288" rIns="18288" tIns="18288" bIns="18288">
            <a:spAutoFit/>
          </a:bodyPr>
          <a:lstStyle/>
          <a:p>
            <a:pPr>
              <a:defRPr sz="1200" b="0">
                <a:solidFill>
                  <a:srgbClr val="53616E"/>
                </a:solidFill>
                <a:latin typeface="Arial"/>
              </a:defRPr>
            </a:pPr>
            <a:r>
              <a:t>§§3.16.1–3.16.2, 4.10.2; Table 4.22; R-routing.csv</a:t>
            </a:r>
          </a:p>
        </p:txBody>
      </p:sp>
      <p:sp>
        <p:nvSpPr>
          <p:cNvPr id="13" name="TextBox 12"/>
          <p:cNvSpPr txBox="1"/>
          <p:nvPr/>
        </p:nvSpPr>
        <p:spPr>
          <a:xfrm>
            <a:off x="585216" y="6428232"/>
            <a:ext cx="10607040" cy="219456"/>
          </a:xfrm>
          <a:prstGeom prst="rect">
            <a:avLst/>
          </a:prstGeom>
          <a:noFill/>
        </p:spPr>
        <p:txBody>
          <a:bodyPr wrap="square" lIns="18288" rIns="18288" tIns="18288" bIns="18288">
            <a:spAutoFit/>
          </a:bodyPr>
          <a:lstStyle/>
          <a:p>
            <a:pPr>
              <a:defRPr sz="1000" b="0">
                <a:solidFill>
                  <a:srgbClr val="53616E"/>
                </a:solidFill>
                <a:latin typeface="Arial"/>
              </a:defRPr>
            </a:pPr>
            <a:r>
              <a:t>Krti Tallam  ·  12 October 2026  ·  Original requirements and adverse outcomes retained</a:t>
            </a:r>
          </a:p>
        </p:txBody>
      </p:sp>
      <p:sp>
        <p:nvSpPr>
          <p:cNvPr id="14" name="TextBox 13"/>
          <p:cNvSpPr txBox="1"/>
          <p:nvPr/>
        </p:nvSpPr>
        <p:spPr>
          <a:xfrm>
            <a:off x="11109960" y="6382512"/>
            <a:ext cx="457200" cy="320040"/>
          </a:xfrm>
          <a:prstGeom prst="rect">
            <a:avLst/>
          </a:prstGeom>
          <a:noFill/>
        </p:spPr>
        <p:txBody>
          <a:bodyPr wrap="square" lIns="18288" rIns="18288" tIns="18288" bIns="18288">
            <a:spAutoFit/>
          </a:bodyPr>
          <a:lstStyle/>
          <a:p>
            <a:pPr>
              <a:defRPr sz="1300" b="1">
                <a:solidFill>
                  <a:srgbClr val="033C5A"/>
                </a:solidFill>
                <a:latin typeface="Arial"/>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B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92608"/>
            <a:ext cx="10972800" cy="274320"/>
          </a:xfrm>
          <a:prstGeom prst="rect">
            <a:avLst/>
          </a:prstGeom>
          <a:noFill/>
        </p:spPr>
        <p:txBody>
          <a:bodyPr wrap="square" lIns="18288" rIns="18288" tIns="18288" bIns="18288">
            <a:spAutoFit/>
          </a:bodyPr>
          <a:lstStyle/>
          <a:p>
            <a:pPr>
              <a:defRPr sz="1200" b="1">
                <a:solidFill>
                  <a:srgbClr val="53616E"/>
                </a:solidFill>
                <a:latin typeface="Arial"/>
              </a:defRPr>
            </a:pPr>
            <a:r>
              <a:t>CYBERSENTINEL  /  RESEARCH REVIEW</a:t>
            </a:r>
          </a:p>
        </p:txBody>
      </p:sp>
      <p:sp>
        <p:nvSpPr>
          <p:cNvPr id="4" name="TextBox 3"/>
          <p:cNvSpPr txBox="1"/>
          <p:nvPr/>
        </p:nvSpPr>
        <p:spPr>
          <a:xfrm>
            <a:off x="566928" y="832104"/>
            <a:ext cx="10972800" cy="1005840"/>
          </a:xfrm>
          <a:prstGeom prst="rect">
            <a:avLst/>
          </a:prstGeom>
          <a:noFill/>
        </p:spPr>
        <p:txBody>
          <a:bodyPr wrap="square" lIns="18288" rIns="18288" tIns="18288" bIns="18288">
            <a:spAutoFit/>
          </a:bodyPr>
          <a:lstStyle/>
          <a:p>
            <a:pPr>
              <a:defRPr sz="2900" b="1">
                <a:solidFill>
                  <a:srgbClr val="033C5A"/>
                </a:solidFill>
                <a:latin typeface="Arial"/>
              </a:defRPr>
            </a:pPr>
            <a:r>
              <a:t>More precise recall evidence, without changing the original verdict</a:t>
            </a:r>
          </a:p>
        </p:txBody>
      </p:sp>
      <p:sp>
        <p:nvSpPr>
          <p:cNvPr id="5" name="TextBox 4"/>
          <p:cNvSpPr txBox="1"/>
          <p:nvPr/>
        </p:nvSpPr>
        <p:spPr>
          <a:xfrm>
            <a:off x="566928" y="1920240"/>
            <a:ext cx="10927080" cy="777240"/>
          </a:xfrm>
          <a:prstGeom prst="rect">
            <a:avLst/>
          </a:prstGeom>
          <a:noFill/>
        </p:spPr>
        <p:txBody>
          <a:bodyPr wrap="square" lIns="18288" rIns="18288" tIns="18288" bIns="18288">
            <a:spAutoFit/>
          </a:bodyPr>
          <a:lstStyle/>
          <a:p>
            <a:pPr>
              <a:defRPr sz="2200" b="0">
                <a:solidFill>
                  <a:srgbClr val="033C5A"/>
                </a:solidFill>
                <a:latin typeface="Arial"/>
              </a:defRPr>
            </a:pPr>
            <a:r>
              <a:t>Agreement must be accompanied by a nondegenerate uncertainty interval.</a:t>
            </a:r>
          </a:p>
        </p:txBody>
      </p:sp>
      <p:sp>
        <p:nvSpPr>
          <p:cNvPr id="6" name="TextBox 5"/>
          <p:cNvSpPr txBox="1"/>
          <p:nvPr/>
        </p:nvSpPr>
        <p:spPr>
          <a:xfrm>
            <a:off x="603504" y="2962656"/>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01</a:t>
            </a:r>
          </a:p>
        </p:txBody>
      </p:sp>
      <p:sp>
        <p:nvSpPr>
          <p:cNvPr id="7" name="TextBox 6"/>
          <p:cNvSpPr txBox="1"/>
          <p:nvPr/>
        </p:nvSpPr>
        <p:spPr>
          <a:xfrm>
            <a:off x="1188720" y="2962656"/>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Original 69 positive pairs: corrected 95% envelope ±6.1533 points</a:t>
            </a:r>
          </a:p>
        </p:txBody>
      </p:sp>
      <p:sp>
        <p:nvSpPr>
          <p:cNvPr id="8" name="TextBox 7"/>
          <p:cNvSpPr txBox="1"/>
          <p:nvPr/>
        </p:nvSpPr>
        <p:spPr>
          <a:xfrm>
            <a:off x="603504" y="3822191"/>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02</a:t>
            </a:r>
          </a:p>
        </p:txBody>
      </p:sp>
      <p:sp>
        <p:nvSpPr>
          <p:cNvPr id="9" name="TextBox 8"/>
          <p:cNvSpPr txBox="1"/>
          <p:nvPr/>
        </p:nvSpPr>
        <p:spPr>
          <a:xfrm>
            <a:off x="1188720" y="3822191"/>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R's 1,392 pairs: 95% envelope ±0.3143 points</a:t>
            </a:r>
          </a:p>
        </p:txBody>
      </p:sp>
      <p:sp>
        <p:nvSpPr>
          <p:cNvPr id="10" name="TextBox 9"/>
          <p:cNvSpPr txBox="1"/>
          <p:nvPr/>
        </p:nvSpPr>
        <p:spPr>
          <a:xfrm>
            <a:off x="603504" y="4681728"/>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03</a:t>
            </a:r>
          </a:p>
        </p:txBody>
      </p:sp>
      <p:sp>
        <p:nvSpPr>
          <p:cNvPr id="11" name="TextBox 10"/>
          <p:cNvSpPr txBox="1"/>
          <p:nvPr/>
        </p:nvSpPr>
        <p:spPr>
          <a:xfrm>
            <a:off x="1188720" y="4681728"/>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Two new recall-only noninferiority statements pass the −2-point margin</a:t>
            </a:r>
          </a:p>
        </p:txBody>
      </p:sp>
      <p:sp>
        <p:nvSpPr>
          <p:cNvPr id="12" name="TextBox 11"/>
          <p:cNvSpPr txBox="1"/>
          <p:nvPr/>
        </p:nvSpPr>
        <p:spPr>
          <a:xfrm>
            <a:off x="585216" y="5961888"/>
            <a:ext cx="10607040" cy="438912"/>
          </a:xfrm>
          <a:prstGeom prst="rect">
            <a:avLst/>
          </a:prstGeom>
          <a:noFill/>
        </p:spPr>
        <p:txBody>
          <a:bodyPr wrap="square" lIns="18288" rIns="18288" tIns="18288" bIns="18288">
            <a:spAutoFit/>
          </a:bodyPr>
          <a:lstStyle/>
          <a:p>
            <a:pPr>
              <a:defRPr sz="1200" b="0">
                <a:solidFill>
                  <a:srgbClr val="53616E"/>
                </a:solidFill>
                <a:latin typeface="Arial"/>
              </a:defRPr>
            </a:pPr>
            <a:r>
              <a:t>§§3.8, 4.10.2; Table 4.3; R-paired-contrasts.csv</a:t>
            </a:r>
          </a:p>
        </p:txBody>
      </p:sp>
      <p:sp>
        <p:nvSpPr>
          <p:cNvPr id="13" name="TextBox 12"/>
          <p:cNvSpPr txBox="1"/>
          <p:nvPr/>
        </p:nvSpPr>
        <p:spPr>
          <a:xfrm>
            <a:off x="585216" y="6428232"/>
            <a:ext cx="10607040" cy="219456"/>
          </a:xfrm>
          <a:prstGeom prst="rect">
            <a:avLst/>
          </a:prstGeom>
          <a:noFill/>
        </p:spPr>
        <p:txBody>
          <a:bodyPr wrap="square" lIns="18288" rIns="18288" tIns="18288" bIns="18288">
            <a:spAutoFit/>
          </a:bodyPr>
          <a:lstStyle/>
          <a:p>
            <a:pPr>
              <a:defRPr sz="1000" b="0">
                <a:solidFill>
                  <a:srgbClr val="53616E"/>
                </a:solidFill>
                <a:latin typeface="Arial"/>
              </a:defRPr>
            </a:pPr>
            <a:r>
              <a:t>Krti Tallam  ·  12 October 2026  ·  Original requirements and adverse outcomes retained</a:t>
            </a:r>
          </a:p>
        </p:txBody>
      </p:sp>
      <p:sp>
        <p:nvSpPr>
          <p:cNvPr id="14" name="TextBox 13"/>
          <p:cNvSpPr txBox="1"/>
          <p:nvPr/>
        </p:nvSpPr>
        <p:spPr>
          <a:xfrm>
            <a:off x="11109960" y="6382512"/>
            <a:ext cx="457200" cy="320040"/>
          </a:xfrm>
          <a:prstGeom prst="rect">
            <a:avLst/>
          </a:prstGeom>
          <a:noFill/>
        </p:spPr>
        <p:txBody>
          <a:bodyPr wrap="square" lIns="18288" rIns="18288" tIns="18288" bIns="18288">
            <a:spAutoFit/>
          </a:bodyPr>
          <a:lstStyle/>
          <a:p>
            <a:pPr>
              <a:defRPr sz="1300" b="1">
                <a:solidFill>
                  <a:srgbClr val="033C5A"/>
                </a:solidFill>
                <a:latin typeface="Arial"/>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B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92608"/>
            <a:ext cx="10972800" cy="274320"/>
          </a:xfrm>
          <a:prstGeom prst="rect">
            <a:avLst/>
          </a:prstGeom>
          <a:noFill/>
        </p:spPr>
        <p:txBody>
          <a:bodyPr wrap="square" lIns="18288" rIns="18288" tIns="18288" bIns="18288">
            <a:spAutoFit/>
          </a:bodyPr>
          <a:lstStyle/>
          <a:p>
            <a:pPr>
              <a:defRPr sz="1200" b="1">
                <a:solidFill>
                  <a:srgbClr val="53616E"/>
                </a:solidFill>
                <a:latin typeface="Arial"/>
              </a:defRPr>
            </a:pPr>
            <a:r>
              <a:t>CYBERSENTINEL  /  RESEARCH REVIEW</a:t>
            </a:r>
          </a:p>
        </p:txBody>
      </p:sp>
      <p:sp>
        <p:nvSpPr>
          <p:cNvPr id="4" name="TextBox 3"/>
          <p:cNvSpPr txBox="1"/>
          <p:nvPr/>
        </p:nvSpPr>
        <p:spPr>
          <a:xfrm>
            <a:off x="566928" y="832104"/>
            <a:ext cx="10972800" cy="1005840"/>
          </a:xfrm>
          <a:prstGeom prst="rect">
            <a:avLst/>
          </a:prstGeom>
          <a:noFill/>
        </p:spPr>
        <p:txBody>
          <a:bodyPr wrap="square" lIns="18288" rIns="18288" tIns="18288" bIns="18288">
            <a:spAutoFit/>
          </a:bodyPr>
          <a:lstStyle/>
          <a:p>
            <a:pPr>
              <a:defRPr sz="2900" b="1">
                <a:solidFill>
                  <a:srgbClr val="033C5A"/>
                </a:solidFill>
                <a:latin typeface="Arial"/>
              </a:defRPr>
            </a:pPr>
            <a:r>
              <a:t>Rare expert calls appear in p99, not necessarily p95</a:t>
            </a:r>
          </a:p>
        </p:txBody>
      </p:sp>
      <p:sp>
        <p:nvSpPr>
          <p:cNvPr id="5" name="TextBox 4"/>
          <p:cNvSpPr txBox="1"/>
          <p:nvPr/>
        </p:nvSpPr>
        <p:spPr>
          <a:xfrm>
            <a:off x="566928" y="1920240"/>
            <a:ext cx="10927080" cy="777240"/>
          </a:xfrm>
          <a:prstGeom prst="rect">
            <a:avLst/>
          </a:prstGeom>
          <a:noFill/>
        </p:spPr>
        <p:txBody>
          <a:bodyPr wrap="square" lIns="18288" rIns="18288" tIns="18288" bIns="18288">
            <a:spAutoFit/>
          </a:bodyPr>
          <a:lstStyle/>
          <a:p>
            <a:pPr>
              <a:defRPr sz="2200" b="0">
                <a:solidFill>
                  <a:srgbClr val="033C5A"/>
                </a:solidFill>
                <a:latin typeface="Arial"/>
              </a:defRPr>
            </a:pPr>
            <a:r>
              <a:t>C measures actual model work, separate from the HTTP service.</a:t>
            </a:r>
          </a:p>
        </p:txBody>
      </p:sp>
      <p:sp>
        <p:nvSpPr>
          <p:cNvPr id="6" name="TextBox 5"/>
          <p:cNvSpPr txBox="1"/>
          <p:nvPr/>
        </p:nvSpPr>
        <p:spPr>
          <a:xfrm>
            <a:off x="603504" y="2962656"/>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01</a:t>
            </a:r>
          </a:p>
        </p:txBody>
      </p:sp>
      <p:sp>
        <p:nvSpPr>
          <p:cNvPr id="7" name="TextBox 6"/>
          <p:cNvSpPr txBox="1"/>
          <p:nvPr/>
        </p:nvSpPr>
        <p:spPr>
          <a:xfrm>
            <a:off x="1188720" y="2962656"/>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Symmetric: 17 expert calls / 1,000 requests; 1.646× structural time</a:t>
            </a:r>
          </a:p>
        </p:txBody>
      </p:sp>
      <p:sp>
        <p:nvSpPr>
          <p:cNvPr id="8" name="TextBox 7"/>
          <p:cNvSpPr txBox="1"/>
          <p:nvPr/>
        </p:nvSpPr>
        <p:spPr>
          <a:xfrm>
            <a:off x="603504" y="3822191"/>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02</a:t>
            </a:r>
          </a:p>
        </p:txBody>
      </p:sp>
      <p:sp>
        <p:nvSpPr>
          <p:cNvPr id="9" name="TextBox 8"/>
          <p:cNvSpPr txBox="1"/>
          <p:nvPr/>
        </p:nvSpPr>
        <p:spPr>
          <a:xfrm>
            <a:off x="1188720" y="3822191"/>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Median run p95: 0.223 ms; p99: 6.769 ms</a:t>
            </a:r>
          </a:p>
        </p:txBody>
      </p:sp>
      <p:sp>
        <p:nvSpPr>
          <p:cNvPr id="10" name="TextBox 9"/>
          <p:cNvSpPr txBox="1"/>
          <p:nvPr/>
        </p:nvSpPr>
        <p:spPr>
          <a:xfrm>
            <a:off x="603504" y="4681728"/>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03</a:t>
            </a:r>
          </a:p>
        </p:txBody>
      </p:sp>
      <p:sp>
        <p:nvSpPr>
          <p:cNvPr id="11" name="TextBox 10"/>
          <p:cNvSpPr txBox="1"/>
          <p:nvPr/>
        </p:nvSpPr>
        <p:spPr>
          <a:xfrm>
            <a:off x="1188720" y="4681728"/>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Always-transformer: 30.781× structural summed-scoring time</a:t>
            </a:r>
          </a:p>
        </p:txBody>
      </p:sp>
      <p:sp>
        <p:nvSpPr>
          <p:cNvPr id="12" name="TextBox 11"/>
          <p:cNvSpPr txBox="1"/>
          <p:nvPr/>
        </p:nvSpPr>
        <p:spPr>
          <a:xfrm>
            <a:off x="585216" y="5961888"/>
            <a:ext cx="10607040" cy="438912"/>
          </a:xfrm>
          <a:prstGeom prst="rect">
            <a:avLst/>
          </a:prstGeom>
          <a:noFill/>
        </p:spPr>
        <p:txBody>
          <a:bodyPr wrap="square" lIns="18288" rIns="18288" tIns="18288" bIns="18288">
            <a:spAutoFit/>
          </a:bodyPr>
          <a:lstStyle/>
          <a:p>
            <a:pPr>
              <a:defRPr sz="1200" b="0">
                <a:solidFill>
                  <a:srgbClr val="53616E"/>
                </a:solidFill>
                <a:latin typeface="Arial"/>
              </a:defRPr>
            </a:pPr>
            <a:r>
              <a:t>§4.10.3; Table 4.23; C-cost-summary.csv and C-all-arms.csv</a:t>
            </a:r>
          </a:p>
        </p:txBody>
      </p:sp>
      <p:sp>
        <p:nvSpPr>
          <p:cNvPr id="13" name="TextBox 12"/>
          <p:cNvSpPr txBox="1"/>
          <p:nvPr/>
        </p:nvSpPr>
        <p:spPr>
          <a:xfrm>
            <a:off x="585216" y="6428232"/>
            <a:ext cx="10607040" cy="219456"/>
          </a:xfrm>
          <a:prstGeom prst="rect">
            <a:avLst/>
          </a:prstGeom>
          <a:noFill/>
        </p:spPr>
        <p:txBody>
          <a:bodyPr wrap="square" lIns="18288" rIns="18288" tIns="18288" bIns="18288">
            <a:spAutoFit/>
          </a:bodyPr>
          <a:lstStyle/>
          <a:p>
            <a:pPr>
              <a:defRPr sz="1000" b="0">
                <a:solidFill>
                  <a:srgbClr val="53616E"/>
                </a:solidFill>
                <a:latin typeface="Arial"/>
              </a:defRPr>
            </a:pPr>
            <a:r>
              <a:t>Krti Tallam  ·  12 October 2026  ·  Original requirements and adverse outcomes retained</a:t>
            </a:r>
          </a:p>
        </p:txBody>
      </p:sp>
      <p:sp>
        <p:nvSpPr>
          <p:cNvPr id="14" name="TextBox 13"/>
          <p:cNvSpPr txBox="1"/>
          <p:nvPr/>
        </p:nvSpPr>
        <p:spPr>
          <a:xfrm>
            <a:off x="11109960" y="6382512"/>
            <a:ext cx="457200" cy="320040"/>
          </a:xfrm>
          <a:prstGeom prst="rect">
            <a:avLst/>
          </a:prstGeom>
          <a:noFill/>
        </p:spPr>
        <p:txBody>
          <a:bodyPr wrap="square" lIns="18288" rIns="18288" tIns="18288" bIns="18288">
            <a:spAutoFit/>
          </a:bodyPr>
          <a:lstStyle/>
          <a:p>
            <a:pPr>
              <a:defRPr sz="1300" b="1">
                <a:solidFill>
                  <a:srgbClr val="033C5A"/>
                </a:solidFill>
                <a:latin typeface="Arial"/>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B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92608"/>
            <a:ext cx="10972800" cy="274320"/>
          </a:xfrm>
          <a:prstGeom prst="rect">
            <a:avLst/>
          </a:prstGeom>
          <a:noFill/>
        </p:spPr>
        <p:txBody>
          <a:bodyPr wrap="square" lIns="18288" rIns="18288" tIns="18288" bIns="18288">
            <a:spAutoFit/>
          </a:bodyPr>
          <a:lstStyle/>
          <a:p>
            <a:pPr>
              <a:defRPr sz="1200" b="1">
                <a:solidFill>
                  <a:srgbClr val="53616E"/>
                </a:solidFill>
                <a:latin typeface="Arial"/>
              </a:defRPr>
            </a:pPr>
            <a:r>
              <a:t>CYBERSENTINEL  /  RESEARCH REVIEW</a:t>
            </a:r>
          </a:p>
        </p:txBody>
      </p:sp>
      <p:sp>
        <p:nvSpPr>
          <p:cNvPr id="4" name="TextBox 3"/>
          <p:cNvSpPr txBox="1"/>
          <p:nvPr/>
        </p:nvSpPr>
        <p:spPr>
          <a:xfrm>
            <a:off x="566928" y="832104"/>
            <a:ext cx="10972800" cy="1005840"/>
          </a:xfrm>
          <a:prstGeom prst="rect">
            <a:avLst/>
          </a:prstGeom>
          <a:noFill/>
        </p:spPr>
        <p:txBody>
          <a:bodyPr wrap="square" lIns="18288" rIns="18288" tIns="18288" bIns="18288">
            <a:spAutoFit/>
          </a:bodyPr>
          <a:lstStyle/>
          <a:p>
            <a:pPr>
              <a:defRPr sz="2900" b="1">
                <a:solidFill>
                  <a:srgbClr val="033C5A"/>
                </a:solidFill>
                <a:latin typeface="Arial"/>
              </a:defRPr>
            </a:pPr>
            <a:r>
              <a:t>A monitor signal is not automatically a useful action</a:t>
            </a:r>
          </a:p>
        </p:txBody>
      </p:sp>
      <p:sp>
        <p:nvSpPr>
          <p:cNvPr id="5" name="TextBox 4"/>
          <p:cNvSpPr txBox="1"/>
          <p:nvPr/>
        </p:nvSpPr>
        <p:spPr>
          <a:xfrm>
            <a:off x="566928" y="1920240"/>
            <a:ext cx="10927080" cy="777240"/>
          </a:xfrm>
          <a:prstGeom prst="rect">
            <a:avLst/>
          </a:prstGeom>
          <a:noFill/>
        </p:spPr>
        <p:txBody>
          <a:bodyPr wrap="square" lIns="18288" rIns="18288" tIns="18288" bIns="18288">
            <a:spAutoFit/>
          </a:bodyPr>
          <a:lstStyle/>
          <a:p>
            <a:pPr>
              <a:defRPr sz="2200" b="0">
                <a:solidFill>
                  <a:srgbClr val="033C5A"/>
                </a:solidFill>
                <a:latin typeface="Arial"/>
              </a:defRPr>
            </a:pPr>
            <a:r>
              <a:t>RQ2 evaluates both distribution recognition and what happens afterward.</a:t>
            </a:r>
          </a:p>
        </p:txBody>
      </p:sp>
      <p:sp>
        <p:nvSpPr>
          <p:cNvPr id="6" name="TextBox 5"/>
          <p:cNvSpPr txBox="1"/>
          <p:nvPr/>
        </p:nvSpPr>
        <p:spPr>
          <a:xfrm>
            <a:off x="603504" y="2962656"/>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01</a:t>
            </a:r>
          </a:p>
        </p:txBody>
      </p:sp>
      <p:sp>
        <p:nvSpPr>
          <p:cNvPr id="7" name="TextBox 6"/>
          <p:cNvSpPr txBox="1"/>
          <p:nvPr/>
        </p:nvSpPr>
        <p:spPr>
          <a:xfrm>
            <a:off x="1188720" y="2962656"/>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External window detection: 115/132 = 87.12%</a:t>
            </a:r>
          </a:p>
        </p:txBody>
      </p:sp>
      <p:sp>
        <p:nvSpPr>
          <p:cNvPr id="8" name="TextBox 7"/>
          <p:cNvSpPr txBox="1"/>
          <p:nvPr/>
        </p:nvSpPr>
        <p:spPr>
          <a:xfrm>
            <a:off x="603504" y="3822191"/>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02</a:t>
            </a:r>
          </a:p>
        </p:txBody>
      </p:sp>
      <p:sp>
        <p:nvSpPr>
          <p:cNvPr id="9" name="TextBox 8"/>
          <p:cNvSpPr txBox="1"/>
          <p:nvPr/>
        </p:nvSpPr>
        <p:spPr>
          <a:xfrm>
            <a:off x="1188720" y="3822191"/>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Reference false alerts: 28/252 = 11.11%</a:t>
            </a:r>
          </a:p>
        </p:txBody>
      </p:sp>
      <p:sp>
        <p:nvSpPr>
          <p:cNvPr id="10" name="TextBox 9"/>
          <p:cNvSpPr txBox="1"/>
          <p:nvPr/>
        </p:nvSpPr>
        <p:spPr>
          <a:xfrm>
            <a:off x="603504" y="4681728"/>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03</a:t>
            </a:r>
          </a:p>
        </p:txBody>
      </p:sp>
      <p:sp>
        <p:nvSpPr>
          <p:cNvPr id="11" name="TextBox 10"/>
          <p:cNvSpPr txBox="1"/>
          <p:nvPr/>
        </p:nvSpPr>
        <p:spPr>
          <a:xfrm>
            <a:off x="1188720" y="4681728"/>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Future routing adds 218 false positives and no gold detections</a:t>
            </a:r>
          </a:p>
        </p:txBody>
      </p:sp>
      <p:sp>
        <p:nvSpPr>
          <p:cNvPr id="12" name="TextBox 11"/>
          <p:cNvSpPr txBox="1"/>
          <p:nvPr/>
        </p:nvSpPr>
        <p:spPr>
          <a:xfrm>
            <a:off x="585216" y="5961888"/>
            <a:ext cx="10607040" cy="438912"/>
          </a:xfrm>
          <a:prstGeom prst="rect">
            <a:avLst/>
          </a:prstGeom>
          <a:noFill/>
        </p:spPr>
        <p:txBody>
          <a:bodyPr wrap="square" lIns="18288" rIns="18288" tIns="18288" bIns="18288">
            <a:spAutoFit/>
          </a:bodyPr>
          <a:lstStyle/>
          <a:p>
            <a:pPr>
              <a:defRPr sz="1200" b="0">
                <a:solidFill>
                  <a:srgbClr val="53616E"/>
                </a:solidFill>
                <a:latin typeface="Arial"/>
              </a:defRPr>
            </a:pPr>
            <a:r>
              <a:t>§§4.3, 5.1; Tables 4.4–4.5</a:t>
            </a:r>
          </a:p>
        </p:txBody>
      </p:sp>
      <p:sp>
        <p:nvSpPr>
          <p:cNvPr id="13" name="TextBox 12"/>
          <p:cNvSpPr txBox="1"/>
          <p:nvPr/>
        </p:nvSpPr>
        <p:spPr>
          <a:xfrm>
            <a:off x="585216" y="6428232"/>
            <a:ext cx="10607040" cy="219456"/>
          </a:xfrm>
          <a:prstGeom prst="rect">
            <a:avLst/>
          </a:prstGeom>
          <a:noFill/>
        </p:spPr>
        <p:txBody>
          <a:bodyPr wrap="square" lIns="18288" rIns="18288" tIns="18288" bIns="18288">
            <a:spAutoFit/>
          </a:bodyPr>
          <a:lstStyle/>
          <a:p>
            <a:pPr>
              <a:defRPr sz="1000" b="0">
                <a:solidFill>
                  <a:srgbClr val="53616E"/>
                </a:solidFill>
                <a:latin typeface="Arial"/>
              </a:defRPr>
            </a:pPr>
            <a:r>
              <a:t>Krti Tallam  ·  12 October 2026  ·  Original requirements and adverse outcomes retained</a:t>
            </a:r>
          </a:p>
        </p:txBody>
      </p:sp>
      <p:sp>
        <p:nvSpPr>
          <p:cNvPr id="14" name="TextBox 13"/>
          <p:cNvSpPr txBox="1"/>
          <p:nvPr/>
        </p:nvSpPr>
        <p:spPr>
          <a:xfrm>
            <a:off x="11109960" y="6382512"/>
            <a:ext cx="457200" cy="320040"/>
          </a:xfrm>
          <a:prstGeom prst="rect">
            <a:avLst/>
          </a:prstGeom>
          <a:noFill/>
        </p:spPr>
        <p:txBody>
          <a:bodyPr wrap="square" lIns="18288" rIns="18288" tIns="18288" bIns="18288">
            <a:spAutoFit/>
          </a:bodyPr>
          <a:lstStyle/>
          <a:p>
            <a:pPr>
              <a:defRPr sz="1300" b="1">
                <a:solidFill>
                  <a:srgbClr val="033C5A"/>
                </a:solidFill>
                <a:latin typeface="Aria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B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92608"/>
            <a:ext cx="10972800" cy="274320"/>
          </a:xfrm>
          <a:prstGeom prst="rect">
            <a:avLst/>
          </a:prstGeom>
          <a:noFill/>
        </p:spPr>
        <p:txBody>
          <a:bodyPr wrap="square" lIns="18288" rIns="18288" tIns="18288" bIns="18288">
            <a:spAutoFit/>
          </a:bodyPr>
          <a:lstStyle/>
          <a:p>
            <a:pPr>
              <a:defRPr sz="1200" b="1">
                <a:solidFill>
                  <a:srgbClr val="53616E"/>
                </a:solidFill>
                <a:latin typeface="Arial"/>
              </a:defRPr>
            </a:pPr>
            <a:r>
              <a:t>CYBERSENTINEL  /  RESEARCH REVIEW</a:t>
            </a:r>
          </a:p>
        </p:txBody>
      </p:sp>
      <p:sp>
        <p:nvSpPr>
          <p:cNvPr id="4" name="TextBox 3"/>
          <p:cNvSpPr txBox="1"/>
          <p:nvPr/>
        </p:nvSpPr>
        <p:spPr>
          <a:xfrm>
            <a:off x="566928" y="832104"/>
            <a:ext cx="10972800" cy="1005840"/>
          </a:xfrm>
          <a:prstGeom prst="rect">
            <a:avLst/>
          </a:prstGeom>
          <a:noFill/>
        </p:spPr>
        <p:txBody>
          <a:bodyPr wrap="square" lIns="18288" rIns="18288" tIns="18288" bIns="18288">
            <a:spAutoFit/>
          </a:bodyPr>
          <a:lstStyle/>
          <a:p>
            <a:pPr>
              <a:defRPr sz="2900" b="1">
                <a:solidFill>
                  <a:srgbClr val="033C5A"/>
                </a:solidFill>
                <a:latin typeface="Arial"/>
              </a:defRPr>
            </a:pPr>
            <a:r>
              <a:t>The client-path modification has a measured benefit</a:t>
            </a:r>
          </a:p>
        </p:txBody>
      </p:sp>
      <p:sp>
        <p:nvSpPr>
          <p:cNvPr id="5" name="TextBox 4"/>
          <p:cNvSpPr txBox="1"/>
          <p:nvPr/>
        </p:nvSpPr>
        <p:spPr>
          <a:xfrm>
            <a:off x="566928" y="1920240"/>
            <a:ext cx="10927080" cy="777240"/>
          </a:xfrm>
          <a:prstGeom prst="rect">
            <a:avLst/>
          </a:prstGeom>
          <a:noFill/>
        </p:spPr>
        <p:txBody>
          <a:bodyPr wrap="square" lIns="18288" rIns="18288" tIns="18288" bIns="18288">
            <a:spAutoFit/>
          </a:bodyPr>
          <a:lstStyle/>
          <a:p>
            <a:pPr>
              <a:defRPr sz="2200" b="0">
                <a:solidFill>
                  <a:srgbClr val="033C5A"/>
                </a:solidFill>
                <a:latin typeface="Arial"/>
              </a:defRPr>
            </a:pPr>
            <a:r>
              <a:t>S changes client connection ownership while keeping structural scoring fixed.</a:t>
            </a:r>
          </a:p>
        </p:txBody>
      </p:sp>
      <p:sp>
        <p:nvSpPr>
          <p:cNvPr id="6" name="TextBox 5"/>
          <p:cNvSpPr txBox="1"/>
          <p:nvPr/>
        </p:nvSpPr>
        <p:spPr>
          <a:xfrm>
            <a:off x="603504" y="2962656"/>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01</a:t>
            </a:r>
          </a:p>
        </p:txBody>
      </p:sp>
      <p:sp>
        <p:nvSpPr>
          <p:cNvPr id="7" name="TextBox 6"/>
          <p:cNvSpPr txBox="1"/>
          <p:nvPr/>
        </p:nvSpPr>
        <p:spPr>
          <a:xfrm>
            <a:off x="1188720" y="2962656"/>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Median paired p95 reduction: 79.68% at concurrency 64</a:t>
            </a:r>
          </a:p>
        </p:txBody>
      </p:sp>
      <p:sp>
        <p:nvSpPr>
          <p:cNvPr id="8" name="TextBox 7"/>
          <p:cNvSpPr txBox="1"/>
          <p:nvPr/>
        </p:nvSpPr>
        <p:spPr>
          <a:xfrm>
            <a:off x="603504" y="3822191"/>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02</a:t>
            </a:r>
          </a:p>
        </p:txBody>
      </p:sp>
      <p:sp>
        <p:nvSpPr>
          <p:cNvPr id="9" name="TextBox 8"/>
          <p:cNvSpPr txBox="1"/>
          <p:nvPr/>
        </p:nvSpPr>
        <p:spPr>
          <a:xfrm>
            <a:off x="1188720" y="3822191"/>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Worker successful p95: 71.999 ms; 0 errors / 100,000 attempts</a:t>
            </a:r>
          </a:p>
        </p:txBody>
      </p:sp>
      <p:sp>
        <p:nvSpPr>
          <p:cNvPr id="10" name="TextBox 9"/>
          <p:cNvSpPr txBox="1"/>
          <p:nvPr/>
        </p:nvSpPr>
        <p:spPr>
          <a:xfrm>
            <a:off x="603504" y="4681728"/>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03</a:t>
            </a:r>
          </a:p>
        </p:txBody>
      </p:sp>
      <p:sp>
        <p:nvSpPr>
          <p:cNvPr id="11" name="TextBox 10"/>
          <p:cNvSpPr txBox="1"/>
          <p:nvPr/>
        </p:nvSpPr>
        <p:spPr>
          <a:xfrm>
            <a:off x="1188720" y="4681728"/>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99,999 / 99,999 comparable predictions agree</a:t>
            </a:r>
          </a:p>
        </p:txBody>
      </p:sp>
      <p:sp>
        <p:nvSpPr>
          <p:cNvPr id="12" name="TextBox 11"/>
          <p:cNvSpPr txBox="1"/>
          <p:nvPr/>
        </p:nvSpPr>
        <p:spPr>
          <a:xfrm>
            <a:off x="585216" y="5961888"/>
            <a:ext cx="10607040" cy="438912"/>
          </a:xfrm>
          <a:prstGeom prst="rect">
            <a:avLst/>
          </a:prstGeom>
          <a:noFill/>
        </p:spPr>
        <p:txBody>
          <a:bodyPr wrap="square" lIns="18288" rIns="18288" tIns="18288" bIns="18288">
            <a:spAutoFit/>
          </a:bodyPr>
          <a:lstStyle/>
          <a:p>
            <a:pPr>
              <a:defRPr sz="1200" b="0">
                <a:solidFill>
                  <a:srgbClr val="53616E"/>
                </a:solidFill>
                <a:latin typeface="Arial"/>
              </a:defRPr>
            </a:pPr>
            <a:r>
              <a:t>§4.9; Tables 4.18–4.20 and B.1</a:t>
            </a:r>
          </a:p>
        </p:txBody>
      </p:sp>
      <p:sp>
        <p:nvSpPr>
          <p:cNvPr id="13" name="TextBox 12"/>
          <p:cNvSpPr txBox="1"/>
          <p:nvPr/>
        </p:nvSpPr>
        <p:spPr>
          <a:xfrm>
            <a:off x="585216" y="6428232"/>
            <a:ext cx="10607040" cy="219456"/>
          </a:xfrm>
          <a:prstGeom prst="rect">
            <a:avLst/>
          </a:prstGeom>
          <a:noFill/>
        </p:spPr>
        <p:txBody>
          <a:bodyPr wrap="square" lIns="18288" rIns="18288" tIns="18288" bIns="18288">
            <a:spAutoFit/>
          </a:bodyPr>
          <a:lstStyle/>
          <a:p>
            <a:pPr>
              <a:defRPr sz="1000" b="0">
                <a:solidFill>
                  <a:srgbClr val="53616E"/>
                </a:solidFill>
                <a:latin typeface="Arial"/>
              </a:defRPr>
            </a:pPr>
            <a:r>
              <a:t>Krti Tallam  ·  12 October 2026  ·  Original requirements and adverse outcomes retained</a:t>
            </a:r>
          </a:p>
        </p:txBody>
      </p:sp>
      <p:sp>
        <p:nvSpPr>
          <p:cNvPr id="14" name="TextBox 13"/>
          <p:cNvSpPr txBox="1"/>
          <p:nvPr/>
        </p:nvSpPr>
        <p:spPr>
          <a:xfrm>
            <a:off x="11109960" y="6382512"/>
            <a:ext cx="457200" cy="320040"/>
          </a:xfrm>
          <a:prstGeom prst="rect">
            <a:avLst/>
          </a:prstGeom>
          <a:noFill/>
        </p:spPr>
        <p:txBody>
          <a:bodyPr wrap="square" lIns="18288" rIns="18288" tIns="18288" bIns="18288">
            <a:spAutoFit/>
          </a:bodyPr>
          <a:lstStyle/>
          <a:p>
            <a:pPr>
              <a:defRPr sz="1300" b="1">
                <a:solidFill>
                  <a:srgbClr val="033C5A"/>
                </a:solidFill>
                <a:latin typeface="Aria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B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92608"/>
            <a:ext cx="10972800" cy="274320"/>
          </a:xfrm>
          <a:prstGeom prst="rect">
            <a:avLst/>
          </a:prstGeom>
          <a:noFill/>
        </p:spPr>
        <p:txBody>
          <a:bodyPr wrap="square" lIns="18288" rIns="18288" tIns="18288" bIns="18288">
            <a:spAutoFit/>
          </a:bodyPr>
          <a:lstStyle/>
          <a:p>
            <a:pPr>
              <a:defRPr sz="1200" b="1">
                <a:solidFill>
                  <a:srgbClr val="53616E"/>
                </a:solidFill>
                <a:latin typeface="Arial"/>
              </a:defRPr>
            </a:pPr>
            <a:r>
              <a:t>CYBERSENTINEL  /  RESEARCH REVIEW</a:t>
            </a:r>
          </a:p>
        </p:txBody>
      </p:sp>
      <p:sp>
        <p:nvSpPr>
          <p:cNvPr id="4" name="TextBox 3"/>
          <p:cNvSpPr txBox="1"/>
          <p:nvPr/>
        </p:nvSpPr>
        <p:spPr>
          <a:xfrm>
            <a:off x="566928" y="832104"/>
            <a:ext cx="10972800" cy="1005840"/>
          </a:xfrm>
          <a:prstGeom prst="rect">
            <a:avLst/>
          </a:prstGeom>
          <a:noFill/>
        </p:spPr>
        <p:txBody>
          <a:bodyPr wrap="square" lIns="18288" rIns="18288" tIns="18288" bIns="18288">
            <a:spAutoFit/>
          </a:bodyPr>
          <a:lstStyle/>
          <a:p>
            <a:pPr>
              <a:defRPr sz="2900" b="1">
                <a:solidFill>
                  <a:srgbClr val="033C5A"/>
                </a:solidFill>
                <a:latin typeface="Arial"/>
              </a:defRPr>
            </a:pPr>
            <a:r>
              <a:t>Verify fitting inputs instead of trusting a plausible metric</a:t>
            </a:r>
          </a:p>
        </p:txBody>
      </p:sp>
      <p:sp>
        <p:nvSpPr>
          <p:cNvPr id="5" name="TextBox 4"/>
          <p:cNvSpPr txBox="1"/>
          <p:nvPr/>
        </p:nvSpPr>
        <p:spPr>
          <a:xfrm>
            <a:off x="566928" y="1920240"/>
            <a:ext cx="10927080" cy="777240"/>
          </a:xfrm>
          <a:prstGeom prst="rect">
            <a:avLst/>
          </a:prstGeom>
          <a:noFill/>
        </p:spPr>
        <p:txBody>
          <a:bodyPr wrap="square" lIns="18288" rIns="18288" tIns="18288" bIns="18288">
            <a:spAutoFit/>
          </a:bodyPr>
          <a:lstStyle/>
          <a:p>
            <a:pPr>
              <a:defRPr sz="2200" b="0">
                <a:solidFill>
                  <a:srgbClr val="033C5A"/>
                </a:solidFill>
                <a:latin typeface="Arial"/>
              </a:defRPr>
            </a:pPr>
            <a:r>
              <a:t>P directly links each new shuffled-label fit to its consumed label vector.</a:t>
            </a:r>
          </a:p>
        </p:txBody>
      </p:sp>
      <p:sp>
        <p:nvSpPr>
          <p:cNvPr id="6" name="TextBox 5"/>
          <p:cNvSpPr txBox="1"/>
          <p:nvPr/>
        </p:nvSpPr>
        <p:spPr>
          <a:xfrm>
            <a:off x="603504" y="2962656"/>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01</a:t>
            </a:r>
          </a:p>
        </p:txBody>
      </p:sp>
      <p:sp>
        <p:nvSpPr>
          <p:cNvPr id="7" name="TextBox 6"/>
          <p:cNvSpPr txBox="1"/>
          <p:nvPr/>
        </p:nvSpPr>
        <p:spPr>
          <a:xfrm>
            <a:off x="1188720" y="2962656"/>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Five seeds, 42–46; all converge below 5,000 iterations</a:t>
            </a:r>
          </a:p>
        </p:txBody>
      </p:sp>
      <p:sp>
        <p:nvSpPr>
          <p:cNvPr id="8" name="TextBox 7"/>
          <p:cNvSpPr txBox="1"/>
          <p:nvPr/>
        </p:nvSpPr>
        <p:spPr>
          <a:xfrm>
            <a:off x="603504" y="3822191"/>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02</a:t>
            </a:r>
          </a:p>
        </p:txBody>
      </p:sp>
      <p:sp>
        <p:nvSpPr>
          <p:cNvPr id="9" name="TextBox 8"/>
          <p:cNvSpPr txBox="1"/>
          <p:nvPr/>
        </p:nvSpPr>
        <p:spPr>
          <a:xfrm>
            <a:off x="1188720" y="3822191"/>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Validation AUC range 0.3940–0.6965; AP 0.4027–0.7683</a:t>
            </a:r>
          </a:p>
        </p:txBody>
      </p:sp>
      <p:sp>
        <p:nvSpPr>
          <p:cNvPr id="10" name="TextBox 9"/>
          <p:cNvSpPr txBox="1"/>
          <p:nvPr/>
        </p:nvSpPr>
        <p:spPr>
          <a:xfrm>
            <a:off x="603504" y="4681728"/>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03</a:t>
            </a:r>
          </a:p>
        </p:txBody>
      </p:sp>
      <p:sp>
        <p:nvSpPr>
          <p:cNvPr id="11" name="TextBox 10"/>
          <p:cNvSpPr txBox="1"/>
          <p:nvPr/>
        </p:nvSpPr>
        <p:spPr>
          <a:xfrm>
            <a:off x="1188720" y="4681728"/>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Every outcome retained; no seed selection or favorable reruns</a:t>
            </a:r>
          </a:p>
        </p:txBody>
      </p:sp>
      <p:sp>
        <p:nvSpPr>
          <p:cNvPr id="12" name="TextBox 11"/>
          <p:cNvSpPr txBox="1"/>
          <p:nvPr/>
        </p:nvSpPr>
        <p:spPr>
          <a:xfrm>
            <a:off x="585216" y="5961888"/>
            <a:ext cx="10607040" cy="438912"/>
          </a:xfrm>
          <a:prstGeom prst="rect">
            <a:avLst/>
          </a:prstGeom>
          <a:noFill/>
        </p:spPr>
        <p:txBody>
          <a:bodyPr wrap="square" lIns="18288" rIns="18288" tIns="18288" bIns="18288">
            <a:spAutoFit/>
          </a:bodyPr>
          <a:lstStyle/>
          <a:p>
            <a:pPr>
              <a:defRPr sz="1200" b="0">
                <a:solidFill>
                  <a:srgbClr val="53616E"/>
                </a:solidFill>
                <a:latin typeface="Arial"/>
              </a:defRPr>
            </a:pPr>
            <a:r>
              <a:t>§4.10.4; Table 4.24; P-all-seeds.csv</a:t>
            </a:r>
          </a:p>
        </p:txBody>
      </p:sp>
      <p:sp>
        <p:nvSpPr>
          <p:cNvPr id="13" name="TextBox 12"/>
          <p:cNvSpPr txBox="1"/>
          <p:nvPr/>
        </p:nvSpPr>
        <p:spPr>
          <a:xfrm>
            <a:off x="585216" y="6428232"/>
            <a:ext cx="10607040" cy="219456"/>
          </a:xfrm>
          <a:prstGeom prst="rect">
            <a:avLst/>
          </a:prstGeom>
          <a:noFill/>
        </p:spPr>
        <p:txBody>
          <a:bodyPr wrap="square" lIns="18288" rIns="18288" tIns="18288" bIns="18288">
            <a:spAutoFit/>
          </a:bodyPr>
          <a:lstStyle/>
          <a:p>
            <a:pPr>
              <a:defRPr sz="1000" b="0">
                <a:solidFill>
                  <a:srgbClr val="53616E"/>
                </a:solidFill>
                <a:latin typeface="Arial"/>
              </a:defRPr>
            </a:pPr>
            <a:r>
              <a:t>Krti Tallam  ·  12 October 2026  ·  Original requirements and adverse outcomes retained</a:t>
            </a:r>
          </a:p>
        </p:txBody>
      </p:sp>
      <p:sp>
        <p:nvSpPr>
          <p:cNvPr id="14" name="TextBox 13"/>
          <p:cNvSpPr txBox="1"/>
          <p:nvPr/>
        </p:nvSpPr>
        <p:spPr>
          <a:xfrm>
            <a:off x="11109960" y="6382512"/>
            <a:ext cx="457200" cy="320040"/>
          </a:xfrm>
          <a:prstGeom prst="rect">
            <a:avLst/>
          </a:prstGeom>
          <a:noFill/>
        </p:spPr>
        <p:txBody>
          <a:bodyPr wrap="square" lIns="18288" rIns="18288" tIns="18288" bIns="18288">
            <a:spAutoFit/>
          </a:bodyPr>
          <a:lstStyle/>
          <a:p>
            <a:pPr>
              <a:defRPr sz="1300" b="1">
                <a:solidFill>
                  <a:srgbClr val="033C5A"/>
                </a:solidFill>
                <a:latin typeface="Aria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B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92608"/>
            <a:ext cx="10972800" cy="274320"/>
          </a:xfrm>
          <a:prstGeom prst="rect">
            <a:avLst/>
          </a:prstGeom>
          <a:noFill/>
        </p:spPr>
        <p:txBody>
          <a:bodyPr wrap="square" lIns="18288" rIns="18288" tIns="18288" bIns="18288">
            <a:spAutoFit/>
          </a:bodyPr>
          <a:lstStyle/>
          <a:p>
            <a:pPr>
              <a:defRPr sz="1200" b="1">
                <a:solidFill>
                  <a:srgbClr val="53616E"/>
                </a:solidFill>
                <a:latin typeface="Arial"/>
              </a:defRPr>
            </a:pPr>
            <a:r>
              <a:t>CYBERSENTINEL  /  RESEARCH REVIEW</a:t>
            </a:r>
          </a:p>
        </p:txBody>
      </p:sp>
      <p:sp>
        <p:nvSpPr>
          <p:cNvPr id="4" name="TextBox 3"/>
          <p:cNvSpPr txBox="1"/>
          <p:nvPr/>
        </p:nvSpPr>
        <p:spPr>
          <a:xfrm>
            <a:off x="566928" y="832104"/>
            <a:ext cx="10972800" cy="1005840"/>
          </a:xfrm>
          <a:prstGeom prst="rect">
            <a:avLst/>
          </a:prstGeom>
          <a:noFill/>
        </p:spPr>
        <p:txBody>
          <a:bodyPr wrap="square" lIns="18288" rIns="18288" tIns="18288" bIns="18288">
            <a:spAutoFit/>
          </a:bodyPr>
          <a:lstStyle/>
          <a:p>
            <a:pPr>
              <a:defRPr sz="2900" b="1">
                <a:solidFill>
                  <a:srgbClr val="033C5A"/>
                </a:solidFill>
                <a:latin typeface="Arial"/>
              </a:defRPr>
            </a:pPr>
            <a:r>
              <a:t>What the dissertation adds to established methods</a:t>
            </a:r>
          </a:p>
        </p:txBody>
      </p:sp>
      <p:sp>
        <p:nvSpPr>
          <p:cNvPr id="5" name="TextBox 4"/>
          <p:cNvSpPr txBox="1"/>
          <p:nvPr/>
        </p:nvSpPr>
        <p:spPr>
          <a:xfrm>
            <a:off x="566928" y="1920240"/>
            <a:ext cx="10927080" cy="777240"/>
          </a:xfrm>
          <a:prstGeom prst="rect">
            <a:avLst/>
          </a:prstGeom>
          <a:noFill/>
        </p:spPr>
        <p:txBody>
          <a:bodyPr wrap="square" lIns="18288" rIns="18288" tIns="18288" bIns="18288">
            <a:spAutoFit/>
          </a:bodyPr>
          <a:lstStyle/>
          <a:p>
            <a:pPr>
              <a:defRPr sz="2200" b="0">
                <a:solidFill>
                  <a:srgbClr val="033C5A"/>
                </a:solidFill>
                <a:latin typeface="Arial"/>
              </a:defRPr>
            </a:pPr>
            <a:r>
              <a:t>The contribution is tested engineering knowledge about constrained decisions.</a:t>
            </a:r>
          </a:p>
        </p:txBody>
      </p:sp>
      <p:sp>
        <p:nvSpPr>
          <p:cNvPr id="6" name="TextBox 5"/>
          <p:cNvSpPr txBox="1"/>
          <p:nvPr/>
        </p:nvSpPr>
        <p:spPr>
          <a:xfrm>
            <a:off x="603504" y="2962656"/>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01</a:t>
            </a:r>
          </a:p>
        </p:txBody>
      </p:sp>
      <p:sp>
        <p:nvSpPr>
          <p:cNvPr id="7" name="TextBox 6"/>
          <p:cNvSpPr txBox="1"/>
          <p:nvPr/>
        </p:nvSpPr>
        <p:spPr>
          <a:xfrm>
            <a:off x="1188720" y="2962656"/>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Measure same-example repair before optimizing deferral</a:t>
            </a:r>
          </a:p>
        </p:txBody>
      </p:sp>
      <p:sp>
        <p:nvSpPr>
          <p:cNvPr id="8" name="TextBox 7"/>
          <p:cNvSpPr txBox="1"/>
          <p:nvPr/>
        </p:nvSpPr>
        <p:spPr>
          <a:xfrm>
            <a:off x="603504" y="3822191"/>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02</a:t>
            </a:r>
          </a:p>
        </p:txBody>
      </p:sp>
      <p:sp>
        <p:nvSpPr>
          <p:cNvPr id="9" name="TextBox 8"/>
          <p:cNvSpPr txBox="1"/>
          <p:nvPr/>
        </p:nvSpPr>
        <p:spPr>
          <a:xfrm>
            <a:off x="1188720" y="3822191"/>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Test low-FPR discrimination alongside representation invariance</a:t>
            </a:r>
          </a:p>
        </p:txBody>
      </p:sp>
      <p:sp>
        <p:nvSpPr>
          <p:cNvPr id="10" name="TextBox 9"/>
          <p:cNvSpPr txBox="1"/>
          <p:nvPr/>
        </p:nvSpPr>
        <p:spPr>
          <a:xfrm>
            <a:off x="603504" y="4681728"/>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03</a:t>
            </a:r>
          </a:p>
        </p:txBody>
      </p:sp>
      <p:sp>
        <p:nvSpPr>
          <p:cNvPr id="11" name="TextBox 10"/>
          <p:cNvSpPr txBox="1"/>
          <p:nvPr/>
        </p:nvSpPr>
        <p:spPr>
          <a:xfrm>
            <a:off x="1188720" y="4681728"/>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Separate model calls, actual computation and client-observed service cost</a:t>
            </a:r>
          </a:p>
        </p:txBody>
      </p:sp>
      <p:sp>
        <p:nvSpPr>
          <p:cNvPr id="12" name="TextBox 11"/>
          <p:cNvSpPr txBox="1"/>
          <p:nvPr/>
        </p:nvSpPr>
        <p:spPr>
          <a:xfrm>
            <a:off x="585216" y="5961888"/>
            <a:ext cx="10607040" cy="438912"/>
          </a:xfrm>
          <a:prstGeom prst="rect">
            <a:avLst/>
          </a:prstGeom>
          <a:noFill/>
        </p:spPr>
        <p:txBody>
          <a:bodyPr wrap="square" lIns="18288" rIns="18288" tIns="18288" bIns="18288">
            <a:spAutoFit/>
          </a:bodyPr>
          <a:lstStyle/>
          <a:p>
            <a:pPr>
              <a:defRPr sz="1200" b="0">
                <a:solidFill>
                  <a:srgbClr val="53616E"/>
                </a:solidFill>
                <a:latin typeface="Arial"/>
              </a:defRPr>
            </a:pPr>
            <a:r>
              <a:t>§§2.2–2.9, 5.2; Tables 2.1 and 5.1</a:t>
            </a:r>
          </a:p>
        </p:txBody>
      </p:sp>
      <p:sp>
        <p:nvSpPr>
          <p:cNvPr id="13" name="TextBox 12"/>
          <p:cNvSpPr txBox="1"/>
          <p:nvPr/>
        </p:nvSpPr>
        <p:spPr>
          <a:xfrm>
            <a:off x="585216" y="6428232"/>
            <a:ext cx="10607040" cy="219456"/>
          </a:xfrm>
          <a:prstGeom prst="rect">
            <a:avLst/>
          </a:prstGeom>
          <a:noFill/>
        </p:spPr>
        <p:txBody>
          <a:bodyPr wrap="square" lIns="18288" rIns="18288" tIns="18288" bIns="18288">
            <a:spAutoFit/>
          </a:bodyPr>
          <a:lstStyle/>
          <a:p>
            <a:pPr>
              <a:defRPr sz="1000" b="0">
                <a:solidFill>
                  <a:srgbClr val="53616E"/>
                </a:solidFill>
                <a:latin typeface="Arial"/>
              </a:defRPr>
            </a:pPr>
            <a:r>
              <a:t>Krti Tallam  ·  12 October 2026  ·  Original requirements and adverse outcomes retained</a:t>
            </a:r>
          </a:p>
        </p:txBody>
      </p:sp>
      <p:sp>
        <p:nvSpPr>
          <p:cNvPr id="14" name="TextBox 13"/>
          <p:cNvSpPr txBox="1"/>
          <p:nvPr/>
        </p:nvSpPr>
        <p:spPr>
          <a:xfrm>
            <a:off x="11109960" y="6382512"/>
            <a:ext cx="457200" cy="320040"/>
          </a:xfrm>
          <a:prstGeom prst="rect">
            <a:avLst/>
          </a:prstGeom>
          <a:noFill/>
        </p:spPr>
        <p:txBody>
          <a:bodyPr wrap="square" lIns="18288" rIns="18288" tIns="18288" bIns="18288">
            <a:spAutoFit/>
          </a:bodyPr>
          <a:lstStyle/>
          <a:p>
            <a:pPr>
              <a:defRPr sz="1300" b="1">
                <a:solidFill>
                  <a:srgbClr val="033C5A"/>
                </a:solidFill>
                <a:latin typeface="Aria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B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92608"/>
            <a:ext cx="10972800" cy="274320"/>
          </a:xfrm>
          <a:prstGeom prst="rect">
            <a:avLst/>
          </a:prstGeom>
          <a:noFill/>
        </p:spPr>
        <p:txBody>
          <a:bodyPr wrap="square" lIns="18288" rIns="18288" tIns="18288" bIns="18288">
            <a:spAutoFit/>
          </a:bodyPr>
          <a:lstStyle/>
          <a:p>
            <a:pPr>
              <a:defRPr sz="1200" b="1">
                <a:solidFill>
                  <a:srgbClr val="53616E"/>
                </a:solidFill>
                <a:latin typeface="Arial"/>
              </a:defRPr>
            </a:pPr>
            <a:r>
              <a:t>CYBERSENTINEL  /  RESEARCH REVIEW</a:t>
            </a:r>
          </a:p>
        </p:txBody>
      </p:sp>
      <p:sp>
        <p:nvSpPr>
          <p:cNvPr id="4" name="TextBox 3"/>
          <p:cNvSpPr txBox="1"/>
          <p:nvPr/>
        </p:nvSpPr>
        <p:spPr>
          <a:xfrm>
            <a:off x="566928" y="832104"/>
            <a:ext cx="10972800" cy="1005840"/>
          </a:xfrm>
          <a:prstGeom prst="rect">
            <a:avLst/>
          </a:prstGeom>
          <a:noFill/>
        </p:spPr>
        <p:txBody>
          <a:bodyPr wrap="square" lIns="18288" rIns="18288" tIns="18288" bIns="18288">
            <a:spAutoFit/>
          </a:bodyPr>
          <a:lstStyle/>
          <a:p>
            <a:pPr>
              <a:defRPr sz="2900" b="1">
                <a:solidFill>
                  <a:srgbClr val="033C5A"/>
                </a:solidFill>
                <a:latin typeface="Arial"/>
              </a:defRPr>
            </a:pPr>
            <a:r>
              <a:t>Hypothesis decisions and positive findings are different levels</a:t>
            </a:r>
          </a:p>
        </p:txBody>
      </p:sp>
      <p:sp>
        <p:nvSpPr>
          <p:cNvPr id="5" name="TextBox 4"/>
          <p:cNvSpPr txBox="1"/>
          <p:nvPr/>
        </p:nvSpPr>
        <p:spPr>
          <a:xfrm>
            <a:off x="566928" y="1920240"/>
            <a:ext cx="10927080" cy="777240"/>
          </a:xfrm>
          <a:prstGeom prst="rect">
            <a:avLst/>
          </a:prstGeom>
          <a:noFill/>
        </p:spPr>
        <p:txBody>
          <a:bodyPr wrap="square" lIns="18288" rIns="18288" tIns="18288" bIns="18288">
            <a:spAutoFit/>
          </a:bodyPr>
          <a:lstStyle/>
          <a:p>
            <a:pPr>
              <a:defRPr sz="2200" b="0">
                <a:solidFill>
                  <a:srgbClr val="033C5A"/>
                </a:solidFill>
                <a:latin typeface="Arial"/>
              </a:defRPr>
            </a:pPr>
            <a:r>
              <a:t>All original questions have direct answers; every numerical requirement remains visible.</a:t>
            </a:r>
          </a:p>
        </p:txBody>
      </p:sp>
      <p:sp>
        <p:nvSpPr>
          <p:cNvPr id="6" name="TextBox 5"/>
          <p:cNvSpPr txBox="1"/>
          <p:nvPr/>
        </p:nvSpPr>
        <p:spPr>
          <a:xfrm>
            <a:off x="603504" y="2962656"/>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01</a:t>
            </a:r>
          </a:p>
        </p:txBody>
      </p:sp>
      <p:sp>
        <p:nvSpPr>
          <p:cNvPr id="7" name="TextBox 6"/>
          <p:cNvSpPr txBox="1"/>
          <p:nvPr/>
        </p:nvSpPr>
        <p:spPr>
          <a:xfrm>
            <a:off x="1188720" y="2962656"/>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Original checks: H1 5/10, H2 1/4, H3 2/8 pass</a:t>
            </a:r>
          </a:p>
        </p:txBody>
      </p:sp>
      <p:sp>
        <p:nvSpPr>
          <p:cNvPr id="8" name="TextBox 7"/>
          <p:cNvSpPr txBox="1"/>
          <p:nvPr/>
        </p:nvSpPr>
        <p:spPr>
          <a:xfrm>
            <a:off x="603504" y="3822191"/>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02</a:t>
            </a:r>
          </a:p>
        </p:txBody>
      </p:sp>
      <p:sp>
        <p:nvSpPr>
          <p:cNvPr id="9" name="TextBox 8"/>
          <p:cNvSpPr txBox="1"/>
          <p:nvPr/>
        </p:nvSpPr>
        <p:spPr>
          <a:xfrm>
            <a:off x="1188720" y="3822191"/>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Joint H1–H3: unsupported; all constituent conditions are required</a:t>
            </a:r>
          </a:p>
        </p:txBody>
      </p:sp>
      <p:sp>
        <p:nvSpPr>
          <p:cNvPr id="10" name="TextBox 9"/>
          <p:cNvSpPr txBox="1"/>
          <p:nvPr/>
        </p:nvSpPr>
        <p:spPr>
          <a:xfrm>
            <a:off x="603504" y="4681728"/>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03</a:t>
            </a:r>
          </a:p>
        </p:txBody>
      </p:sp>
      <p:sp>
        <p:nvSpPr>
          <p:cNvPr id="11" name="TextBox 10"/>
          <p:cNvSpPr txBox="1"/>
          <p:nvPr/>
        </p:nvSpPr>
        <p:spPr>
          <a:xfrm>
            <a:off x="1188720" y="4681728"/>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Positive findings: structural gain, exact invariance, recall-only NI and HTTP improvement</a:t>
            </a:r>
          </a:p>
        </p:txBody>
      </p:sp>
      <p:sp>
        <p:nvSpPr>
          <p:cNvPr id="12" name="TextBox 11"/>
          <p:cNvSpPr txBox="1"/>
          <p:nvPr/>
        </p:nvSpPr>
        <p:spPr>
          <a:xfrm>
            <a:off x="585216" y="5961888"/>
            <a:ext cx="10607040" cy="438912"/>
          </a:xfrm>
          <a:prstGeom prst="rect">
            <a:avLst/>
          </a:prstGeom>
          <a:noFill/>
        </p:spPr>
        <p:txBody>
          <a:bodyPr wrap="square" lIns="18288" rIns="18288" tIns="18288" bIns="18288">
            <a:spAutoFit/>
          </a:bodyPr>
          <a:lstStyle/>
          <a:p>
            <a:pPr>
              <a:defRPr sz="1200" b="0">
                <a:solidFill>
                  <a:srgbClr val="53616E"/>
                </a:solidFill>
                <a:latin typeface="Arial"/>
              </a:defRPr>
            </a:pPr>
            <a:r>
              <a:t>§§4.7, 5.1–5.6; Tables 4.14 and 5.2; corrected-primary-gates.csv</a:t>
            </a:r>
          </a:p>
        </p:txBody>
      </p:sp>
      <p:sp>
        <p:nvSpPr>
          <p:cNvPr id="13" name="TextBox 12"/>
          <p:cNvSpPr txBox="1"/>
          <p:nvPr/>
        </p:nvSpPr>
        <p:spPr>
          <a:xfrm>
            <a:off x="585216" y="6428232"/>
            <a:ext cx="10607040" cy="219456"/>
          </a:xfrm>
          <a:prstGeom prst="rect">
            <a:avLst/>
          </a:prstGeom>
          <a:noFill/>
        </p:spPr>
        <p:txBody>
          <a:bodyPr wrap="square" lIns="18288" rIns="18288" tIns="18288" bIns="18288">
            <a:spAutoFit/>
          </a:bodyPr>
          <a:lstStyle/>
          <a:p>
            <a:pPr>
              <a:defRPr sz="1000" b="0">
                <a:solidFill>
                  <a:srgbClr val="53616E"/>
                </a:solidFill>
                <a:latin typeface="Arial"/>
              </a:defRPr>
            </a:pPr>
            <a:r>
              <a:t>Krti Tallam  ·  12 October 2026  ·  Original requirements and adverse outcomes retained</a:t>
            </a:r>
          </a:p>
        </p:txBody>
      </p:sp>
      <p:sp>
        <p:nvSpPr>
          <p:cNvPr id="14" name="TextBox 13"/>
          <p:cNvSpPr txBox="1"/>
          <p:nvPr/>
        </p:nvSpPr>
        <p:spPr>
          <a:xfrm>
            <a:off x="11109960" y="6382512"/>
            <a:ext cx="457200" cy="320040"/>
          </a:xfrm>
          <a:prstGeom prst="rect">
            <a:avLst/>
          </a:prstGeom>
          <a:noFill/>
        </p:spPr>
        <p:txBody>
          <a:bodyPr wrap="square" lIns="18288" rIns="18288" tIns="18288" bIns="18288">
            <a:spAutoFit/>
          </a:bodyPr>
          <a:lstStyle/>
          <a:p>
            <a:pPr>
              <a:defRPr sz="1300" b="1">
                <a:solidFill>
                  <a:srgbClr val="033C5A"/>
                </a:solidFill>
                <a:latin typeface="Arial"/>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B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92608"/>
            <a:ext cx="10972800" cy="274320"/>
          </a:xfrm>
          <a:prstGeom prst="rect">
            <a:avLst/>
          </a:prstGeom>
          <a:noFill/>
        </p:spPr>
        <p:txBody>
          <a:bodyPr wrap="square" lIns="18288" rIns="18288" tIns="18288" bIns="18288">
            <a:spAutoFit/>
          </a:bodyPr>
          <a:lstStyle/>
          <a:p>
            <a:pPr>
              <a:defRPr sz="1200" b="1">
                <a:solidFill>
                  <a:srgbClr val="53616E"/>
                </a:solidFill>
                <a:latin typeface="Arial"/>
              </a:defRPr>
            </a:pPr>
            <a:r>
              <a:t>CYBERSENTINEL  /  RESEARCH REVIEW</a:t>
            </a:r>
          </a:p>
        </p:txBody>
      </p:sp>
      <p:sp>
        <p:nvSpPr>
          <p:cNvPr id="4" name="TextBox 3"/>
          <p:cNvSpPr txBox="1"/>
          <p:nvPr/>
        </p:nvSpPr>
        <p:spPr>
          <a:xfrm>
            <a:off x="566928" y="832104"/>
            <a:ext cx="10972800" cy="1005840"/>
          </a:xfrm>
          <a:prstGeom prst="rect">
            <a:avLst/>
          </a:prstGeom>
          <a:noFill/>
        </p:spPr>
        <p:txBody>
          <a:bodyPr wrap="square" lIns="18288" rIns="18288" tIns="18288" bIns="18288">
            <a:spAutoFit/>
          </a:bodyPr>
          <a:lstStyle/>
          <a:p>
            <a:pPr>
              <a:defRPr sz="2900" b="1">
                <a:solidFill>
                  <a:srgbClr val="033C5A"/>
                </a:solidFill>
                <a:latin typeface="Arial"/>
              </a:defRPr>
            </a:pPr>
            <a:r>
              <a:t>The technical answer is actionable</a:t>
            </a:r>
          </a:p>
        </p:txBody>
      </p:sp>
      <p:sp>
        <p:nvSpPr>
          <p:cNvPr id="5" name="TextBox 4"/>
          <p:cNvSpPr txBox="1"/>
          <p:nvPr/>
        </p:nvSpPr>
        <p:spPr>
          <a:xfrm>
            <a:off x="566928" y="1920240"/>
            <a:ext cx="10927080" cy="777240"/>
          </a:xfrm>
          <a:prstGeom prst="rect">
            <a:avLst/>
          </a:prstGeom>
          <a:noFill/>
        </p:spPr>
        <p:txBody>
          <a:bodyPr wrap="square" lIns="18288" rIns="18288" tIns="18288" bIns="18288">
            <a:spAutoFit/>
          </a:bodyPr>
          <a:lstStyle/>
          <a:p>
            <a:pPr>
              <a:defRPr sz="2200" b="0">
                <a:solidFill>
                  <a:srgbClr val="033C5A"/>
                </a:solidFill>
                <a:latin typeface="Arial"/>
              </a:defRPr>
            </a:pPr>
            <a:r>
              <a:t>Change what the evidence identifies, and test every consequence.</a:t>
            </a:r>
          </a:p>
        </p:txBody>
      </p:sp>
      <p:sp>
        <p:nvSpPr>
          <p:cNvPr id="6" name="TextBox 5"/>
          <p:cNvSpPr txBox="1"/>
          <p:nvPr/>
        </p:nvSpPr>
        <p:spPr>
          <a:xfrm>
            <a:off x="603504" y="2962656"/>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01</a:t>
            </a:r>
          </a:p>
        </p:txBody>
      </p:sp>
      <p:sp>
        <p:nvSpPr>
          <p:cNvPr id="7" name="TextBox 6"/>
          <p:cNvSpPr txBox="1"/>
          <p:nvPr/>
        </p:nvSpPr>
        <p:spPr>
          <a:xfrm>
            <a:off x="1188720" y="2962656"/>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Shared decision errors require changed information or operating-point development</a:t>
            </a:r>
          </a:p>
        </p:txBody>
      </p:sp>
      <p:sp>
        <p:nvSpPr>
          <p:cNvPr id="8" name="TextBox 7"/>
          <p:cNvSpPr txBox="1"/>
          <p:nvPr/>
        </p:nvSpPr>
        <p:spPr>
          <a:xfrm>
            <a:off x="603504" y="3822191"/>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02</a:t>
            </a:r>
          </a:p>
        </p:txBody>
      </p:sp>
      <p:sp>
        <p:nvSpPr>
          <p:cNvPr id="9" name="TextBox 8"/>
          <p:cNvSpPr txBox="1"/>
          <p:nvPr/>
        </p:nvSpPr>
        <p:spPr>
          <a:xfrm>
            <a:off x="1188720" y="3822191"/>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A useful route must find repairs while controlling harms and compute</a:t>
            </a:r>
          </a:p>
        </p:txBody>
      </p:sp>
      <p:sp>
        <p:nvSpPr>
          <p:cNvPr id="10" name="TextBox 9"/>
          <p:cNvSpPr txBox="1"/>
          <p:nvPr/>
        </p:nvSpPr>
        <p:spPr>
          <a:xfrm>
            <a:off x="603504" y="4681728"/>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03</a:t>
            </a:r>
          </a:p>
        </p:txBody>
      </p:sp>
      <p:sp>
        <p:nvSpPr>
          <p:cNvPr id="11" name="TextBox 10"/>
          <p:cNvSpPr txBox="1"/>
          <p:nvPr/>
        </p:nvSpPr>
        <p:spPr>
          <a:xfrm>
            <a:off x="1188720" y="4681728"/>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Optimize the measured service path without calling it better detection</a:t>
            </a:r>
          </a:p>
        </p:txBody>
      </p:sp>
      <p:sp>
        <p:nvSpPr>
          <p:cNvPr id="12" name="TextBox 11"/>
          <p:cNvSpPr txBox="1"/>
          <p:nvPr/>
        </p:nvSpPr>
        <p:spPr>
          <a:xfrm>
            <a:off x="585216" y="5961888"/>
            <a:ext cx="10607040" cy="438912"/>
          </a:xfrm>
          <a:prstGeom prst="rect">
            <a:avLst/>
          </a:prstGeom>
          <a:noFill/>
        </p:spPr>
        <p:txBody>
          <a:bodyPr wrap="square" lIns="18288" rIns="18288" tIns="18288" bIns="18288">
            <a:spAutoFit/>
          </a:bodyPr>
          <a:lstStyle/>
          <a:p>
            <a:pPr>
              <a:defRPr sz="1200" b="0">
                <a:solidFill>
                  <a:srgbClr val="53616E"/>
                </a:solidFill>
                <a:latin typeface="Arial"/>
              </a:defRPr>
            </a:pPr>
            <a:r>
              <a:t>§§5.2–5.6</a:t>
            </a:r>
          </a:p>
        </p:txBody>
      </p:sp>
      <p:sp>
        <p:nvSpPr>
          <p:cNvPr id="13" name="TextBox 12"/>
          <p:cNvSpPr txBox="1"/>
          <p:nvPr/>
        </p:nvSpPr>
        <p:spPr>
          <a:xfrm>
            <a:off x="585216" y="6428232"/>
            <a:ext cx="10607040" cy="219456"/>
          </a:xfrm>
          <a:prstGeom prst="rect">
            <a:avLst/>
          </a:prstGeom>
          <a:noFill/>
        </p:spPr>
        <p:txBody>
          <a:bodyPr wrap="square" lIns="18288" rIns="18288" tIns="18288" bIns="18288">
            <a:spAutoFit/>
          </a:bodyPr>
          <a:lstStyle/>
          <a:p>
            <a:pPr>
              <a:defRPr sz="1000" b="0">
                <a:solidFill>
                  <a:srgbClr val="53616E"/>
                </a:solidFill>
                <a:latin typeface="Arial"/>
              </a:defRPr>
            </a:pPr>
            <a:r>
              <a:t>Krti Tallam  ·  12 October 2026  ·  Original requirements and adverse outcomes retained</a:t>
            </a:r>
          </a:p>
        </p:txBody>
      </p:sp>
      <p:sp>
        <p:nvSpPr>
          <p:cNvPr id="14" name="TextBox 13"/>
          <p:cNvSpPr txBox="1"/>
          <p:nvPr/>
        </p:nvSpPr>
        <p:spPr>
          <a:xfrm>
            <a:off x="11109960" y="6382512"/>
            <a:ext cx="457200" cy="320040"/>
          </a:xfrm>
          <a:prstGeom prst="rect">
            <a:avLst/>
          </a:prstGeom>
          <a:noFill/>
        </p:spPr>
        <p:txBody>
          <a:bodyPr wrap="square" lIns="18288" rIns="18288" tIns="18288" bIns="18288">
            <a:spAutoFit/>
          </a:bodyPr>
          <a:lstStyle/>
          <a:p>
            <a:pPr>
              <a:defRPr sz="1300" b="1">
                <a:solidFill>
                  <a:srgbClr val="033C5A"/>
                </a:solidFill>
                <a:latin typeface="Arial"/>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D6B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92608"/>
            <a:ext cx="10972800" cy="274320"/>
          </a:xfrm>
          <a:prstGeom prst="rect">
            <a:avLst/>
          </a:prstGeom>
          <a:noFill/>
        </p:spPr>
        <p:txBody>
          <a:bodyPr wrap="square" lIns="18288" rIns="18288" tIns="18288" bIns="18288">
            <a:spAutoFit/>
          </a:bodyPr>
          <a:lstStyle/>
          <a:p>
            <a:pPr>
              <a:defRPr sz="1200" b="1">
                <a:solidFill>
                  <a:srgbClr val="53616E"/>
                </a:solidFill>
                <a:latin typeface="Arial"/>
              </a:defRPr>
            </a:pPr>
            <a:r>
              <a:t>CYBERSENTINEL  /  RESEARCH REVIEW</a:t>
            </a:r>
          </a:p>
        </p:txBody>
      </p:sp>
      <p:sp>
        <p:nvSpPr>
          <p:cNvPr id="4" name="TextBox 3"/>
          <p:cNvSpPr txBox="1"/>
          <p:nvPr/>
        </p:nvSpPr>
        <p:spPr>
          <a:xfrm>
            <a:off x="566928" y="832104"/>
            <a:ext cx="10972800" cy="1005840"/>
          </a:xfrm>
          <a:prstGeom prst="rect">
            <a:avLst/>
          </a:prstGeom>
          <a:noFill/>
        </p:spPr>
        <p:txBody>
          <a:bodyPr wrap="square" lIns="18288" rIns="18288" tIns="18288" bIns="18288">
            <a:spAutoFit/>
          </a:bodyPr>
          <a:lstStyle/>
          <a:p>
            <a:pPr>
              <a:defRPr sz="2900" b="1">
                <a:solidFill>
                  <a:srgbClr val="033C5A"/>
                </a:solidFill>
                <a:latin typeface="Arial"/>
              </a:defRPr>
            </a:pPr>
            <a:r>
              <a:t>A traceable review package</a:t>
            </a:r>
          </a:p>
        </p:txBody>
      </p:sp>
      <p:sp>
        <p:nvSpPr>
          <p:cNvPr id="5" name="TextBox 4"/>
          <p:cNvSpPr txBox="1"/>
          <p:nvPr/>
        </p:nvSpPr>
        <p:spPr>
          <a:xfrm>
            <a:off x="566928" y="1920240"/>
            <a:ext cx="10927080" cy="777240"/>
          </a:xfrm>
          <a:prstGeom prst="rect">
            <a:avLst/>
          </a:prstGeom>
          <a:noFill/>
        </p:spPr>
        <p:txBody>
          <a:bodyPr wrap="square" lIns="18288" rIns="18288" tIns="18288" bIns="18288">
            <a:spAutoFit/>
          </a:bodyPr>
          <a:lstStyle/>
          <a:p>
            <a:pPr>
              <a:defRPr sz="2200" b="0">
                <a:solidFill>
                  <a:srgbClr val="033C5A"/>
                </a:solidFill>
                <a:latin typeface="Arial"/>
              </a:defRPr>
            </a:pPr>
            <a:r>
              <a:t>A reader can move from question to method, table and retained evidence.</a:t>
            </a:r>
          </a:p>
        </p:txBody>
      </p:sp>
      <p:sp>
        <p:nvSpPr>
          <p:cNvPr id="6" name="TextBox 5"/>
          <p:cNvSpPr txBox="1"/>
          <p:nvPr/>
        </p:nvSpPr>
        <p:spPr>
          <a:xfrm>
            <a:off x="603504" y="2962656"/>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01</a:t>
            </a:r>
          </a:p>
        </p:txBody>
      </p:sp>
      <p:sp>
        <p:nvSpPr>
          <p:cNvPr id="7" name="TextBox 6"/>
          <p:cNvSpPr txBox="1"/>
          <p:nvPr/>
        </p:nvSpPr>
        <p:spPr>
          <a:xfrm>
            <a:off x="1188720" y="2962656"/>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Manuscript + seven-comment response + extended methods</a:t>
            </a:r>
          </a:p>
        </p:txBody>
      </p:sp>
      <p:sp>
        <p:nvSpPr>
          <p:cNvPr id="8" name="TextBox 7"/>
          <p:cNvSpPr txBox="1"/>
          <p:nvPr/>
        </p:nvSpPr>
        <p:spPr>
          <a:xfrm>
            <a:off x="603504" y="3822191"/>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02</a:t>
            </a:r>
          </a:p>
        </p:txBody>
      </p:sp>
      <p:sp>
        <p:nvSpPr>
          <p:cNvPr id="9" name="TextBox 8"/>
          <p:cNvSpPr txBox="1"/>
          <p:nvPr/>
        </p:nvSpPr>
        <p:spPr>
          <a:xfrm>
            <a:off x="1188720" y="3822191"/>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Corrected ledger + F/R/C/P aggregates + freeze identities</a:t>
            </a:r>
          </a:p>
        </p:txBody>
      </p:sp>
      <p:sp>
        <p:nvSpPr>
          <p:cNvPr id="10" name="TextBox 9"/>
          <p:cNvSpPr txBox="1"/>
          <p:nvPr/>
        </p:nvSpPr>
        <p:spPr>
          <a:xfrm>
            <a:off x="603504" y="4681728"/>
            <a:ext cx="457200" cy="502920"/>
          </a:xfrm>
          <a:prstGeom prst="rect">
            <a:avLst/>
          </a:prstGeom>
          <a:noFill/>
        </p:spPr>
        <p:txBody>
          <a:bodyPr wrap="square" lIns="18288" rIns="18288" tIns="18288" bIns="18288">
            <a:spAutoFit/>
          </a:bodyPr>
          <a:lstStyle/>
          <a:p>
            <a:pPr>
              <a:defRPr sz="1700" b="1">
                <a:solidFill>
                  <a:srgbClr val="53616E"/>
                </a:solidFill>
                <a:latin typeface="Arial"/>
              </a:defRPr>
            </a:pPr>
            <a:r>
              <a:t>03</a:t>
            </a:r>
          </a:p>
        </p:txBody>
      </p:sp>
      <p:sp>
        <p:nvSpPr>
          <p:cNvPr id="11" name="TextBox 10"/>
          <p:cNvSpPr txBox="1"/>
          <p:nvPr/>
        </p:nvSpPr>
        <p:spPr>
          <a:xfrm>
            <a:off x="1188720" y="4681728"/>
            <a:ext cx="10241280" cy="758952"/>
          </a:xfrm>
          <a:prstGeom prst="rect">
            <a:avLst/>
          </a:prstGeom>
          <a:noFill/>
        </p:spPr>
        <p:txBody>
          <a:bodyPr wrap="square" lIns="18288" rIns="18288" tIns="18288" bIns="18288">
            <a:spAutoFit/>
          </a:bodyPr>
          <a:lstStyle/>
          <a:p>
            <a:pPr>
              <a:defRPr sz="2300" b="0">
                <a:solidFill>
                  <a:srgbClr val="163344"/>
                </a:solidFill>
                <a:latin typeface="Arial"/>
              </a:defRPr>
            </a:pPr>
            <a:r>
              <a:t>Original record preserved; new record-level identities remain private</a:t>
            </a:r>
          </a:p>
        </p:txBody>
      </p:sp>
      <p:sp>
        <p:nvSpPr>
          <p:cNvPr id="12" name="TextBox 11"/>
          <p:cNvSpPr txBox="1"/>
          <p:nvPr/>
        </p:nvSpPr>
        <p:spPr>
          <a:xfrm>
            <a:off x="585216" y="5961888"/>
            <a:ext cx="10607040" cy="438912"/>
          </a:xfrm>
          <a:prstGeom prst="rect">
            <a:avLst/>
          </a:prstGeom>
          <a:noFill/>
        </p:spPr>
        <p:txBody>
          <a:bodyPr wrap="square" lIns="18288" rIns="18288" tIns="18288" bIns="18288">
            <a:spAutoFit/>
          </a:bodyPr>
          <a:lstStyle/>
          <a:p>
            <a:pPr>
              <a:defRPr sz="1200" b="0">
                <a:solidFill>
                  <a:srgbClr val="53616E"/>
                </a:solidFill>
                <a:latin typeface="Arial"/>
              </a:defRPr>
            </a:pPr>
            <a:r>
              <a:t>Appendices A–C; EVIDENCE_MAP.txt; VERIFICATION.txt</a:t>
            </a:r>
          </a:p>
        </p:txBody>
      </p:sp>
      <p:sp>
        <p:nvSpPr>
          <p:cNvPr id="13" name="TextBox 12"/>
          <p:cNvSpPr txBox="1"/>
          <p:nvPr/>
        </p:nvSpPr>
        <p:spPr>
          <a:xfrm>
            <a:off x="585216" y="6428232"/>
            <a:ext cx="10607040" cy="219456"/>
          </a:xfrm>
          <a:prstGeom prst="rect">
            <a:avLst/>
          </a:prstGeom>
          <a:noFill/>
        </p:spPr>
        <p:txBody>
          <a:bodyPr wrap="square" lIns="18288" rIns="18288" tIns="18288" bIns="18288">
            <a:spAutoFit/>
          </a:bodyPr>
          <a:lstStyle/>
          <a:p>
            <a:pPr>
              <a:defRPr sz="1000" b="0">
                <a:solidFill>
                  <a:srgbClr val="53616E"/>
                </a:solidFill>
                <a:latin typeface="Arial"/>
              </a:defRPr>
            </a:pPr>
            <a:r>
              <a:t>Krti Tallam  ·  12 October 2026  ·  Original requirements and adverse outcomes retained</a:t>
            </a:r>
          </a:p>
        </p:txBody>
      </p:sp>
      <p:sp>
        <p:nvSpPr>
          <p:cNvPr id="14" name="TextBox 13"/>
          <p:cNvSpPr txBox="1"/>
          <p:nvPr/>
        </p:nvSpPr>
        <p:spPr>
          <a:xfrm>
            <a:off x="11109960" y="6382512"/>
            <a:ext cx="457200" cy="320040"/>
          </a:xfrm>
          <a:prstGeom prst="rect">
            <a:avLst/>
          </a:prstGeom>
          <a:noFill/>
        </p:spPr>
        <p:txBody>
          <a:bodyPr wrap="square" lIns="18288" rIns="18288" tIns="18288" bIns="18288">
            <a:spAutoFit/>
          </a:bodyPr>
          <a:lstStyle/>
          <a:p>
            <a:pPr>
              <a:defRPr sz="1300" b="1">
                <a:solidFill>
                  <a:srgbClr val="033C5A"/>
                </a:solidFill>
                <a:latin typeface="Arial"/>
              </a:defRPr>
            </a:pPr>
            <a: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Cross-Dataset Reliability and Computational Trade-offs in Cascaded URL Phishing Detection</dc:title>
  <dc:subject/>
  <dc:creator>Krti Tallam</dc:creator>
  <cp:keywords/>
  <dc:description>generated using python-pptx</dc:description>
  <cp:category/>
</cp:coreProperties>
</file>