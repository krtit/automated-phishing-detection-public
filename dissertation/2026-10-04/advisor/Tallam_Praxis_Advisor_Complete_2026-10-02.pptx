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14"/>
  </p:notesMasterIdLst>
  <p:sldIdLst>
    <p:sldId id="356" r:id="rId3"/>
    <p:sldId id="496" r:id="rId4"/>
    <p:sldId id="699" r:id="rId5"/>
    <p:sldId id="700" r:id="rId6"/>
    <p:sldId id="701" r:id="rId7"/>
    <p:sldId id="702" r:id="rId8"/>
    <p:sldId id="703" r:id="rId9"/>
    <p:sldId id="704" r:id="rId10"/>
    <p:sldId id="705" r:id="rId11"/>
    <p:sldId id="714" r:id="rId25"/>
    <p:sldId id="715" r:id="rId26"/>
    <p:sldId id="716" r:id="rId27"/>
    <p:sldId id="717" r:id="rId28"/>
    <p:sldId id="718" r:id="rId29"/>
    <p:sldId id="719" r:id="rId30"/>
    <p:sldId id="720" r:id="rId31"/>
    <p:sldId id="721" r:id="rId32"/>
    <p:sldId id="706" r:id="rId12"/>
    <p:sldId id="707" r:id="rId13"/>
    <p:sldId id="708" r:id="rId19"/>
    <p:sldId id="709" r:id="rId20"/>
    <p:sldId id="710" r:id="rId21"/>
    <p:sldId id="711" r:id="rId22"/>
    <p:sldId id="712" r:id="rId23"/>
    <p:sldId id="713"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505046"/>
    <a:srgbClr val="B22600"/>
    <a:srgbClr val="70AD47"/>
    <a:srgbClr val="4472C4"/>
    <a:srgbClr val="E84C22"/>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p:restoredTop sz="94668"/>
  </p:normalViewPr>
  <p:slideViewPr>
    <p:cSldViewPr snapToGrid="0" snapToObjects="1">
      <p:cViewPr varScale="1">
        <p:scale>
          <a:sx n="127" d="100"/>
          <a:sy n="127" d="100"/>
        </p:scale>
        <p:origin x="14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6.xml"/><Relationship Id="rId13" Type="http://schemas.openxmlformats.org/officeDocument/2006/relationships/slide" Target="slides/slide17.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10/1/26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500"/>
              </a:spcAft>
            </a:pPr>
            <a:r>
              <a:rPr sz="1200" b="0">
                <a:solidFill>
                  <a:srgbClr val="2F3337"/>
                </a:solidFill>
                <a:latin typeface="Arial"/>
              </a:rPr>
              <a:t>- The completed research combines the original evaluation and separately specified engineering iteration. Lead with the achieved representation and service properties, then state their scope and remaining joint-criterion failures. Original H1–H3, detection D and strict service S remain unsupported; there are nine passing original components and four passing S requirements. The package is research-complete, not a university submission certification.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These are the active questions, not the superseded June/August 6 distillation or feature-fusion proposal. No 300M-to-30M distillation, 92% retention, +5-point AUC or 40% latency reduction is claimed. The manuscript gives direct answers using these exact questions.</a:t>
            </a:r>
          </a:p>
          <a:p>
            <a:r>
              <a:t>- Evidence: final-evidence-20261001/primary-results.json</a:t>
            </a:r>
          </a:p>
          <a:p>
            <a:r>
              <a:t>- All three hypotheses are complete and not supported. No failed gate, interruption or adverse result is suppressed. Operator authorization is not advisor approval.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External source/tier details: silver 417, bronze 4,555, Tranco 1,163, gold 69 and certified 2,497; 4,150 distinct domains overall. The published test has 8,941 records, 240 excluded. Source/tier filters follow routing. Exact publisher url_norm was adopted after preparation/label-count exposure and before amended predictions; checkpoint recovery followed earlier predictions and partial runs. These timings are not advisor approval or complete pre-access prespecification.</a:t>
            </a:r>
          </a:p>
          <a:p>
            <a:r>
              <a:t>- Evidence: final-evidence-20261001/verification.json; final-evidence-20261001/source-contingency.csv</a:t>
            </a:r>
          </a:p>
          <a:p>
            <a:r>
              <a:t>- All three hypotheses are complete and not supported. No failed gate, interruption or adverse result is suppressed. Operator authorization is not advisor approval.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All model thresholds remain validation-selected and unchanged. Counts and CP upper bounds are in the manuscript. Certified negatives cluster in 234 domains, so the exact binomial calculation does not remove dependence. Do not confuse gold-positive recall with precision or deployment utility.</a:t>
            </a:r>
          </a:p>
          <a:p>
            <a:r>
              <a:t>- Evidence: final-evidence-20261001/secondary-metrics.csv; final-evidence-20261001/primary-gates.csv</a:t>
            </a:r>
          </a:p>
          <a:p>
            <a:r>
              <a:t>- All three hypotheses are complete and not supported. No failed gate, interruption or adverse result is suppressed. Operator authorization is not advisor approval.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band is unchanged and selects zero evaluation rows. The cascade therefore equals L1 on the evaluated streams; this does not show character representations are universally unnecessary. Strict-improvement lower bounds must exceed zero. Structural gains cannot cancel external specificity failures.</a:t>
            </a:r>
          </a:p>
          <a:p>
            <a:r>
              <a:t>- Evidence: final-evidence-20261001/paired-contrasts.csv; final-evidence-20261001/primary-results.json</a:t>
            </a:r>
          </a:p>
          <a:p>
            <a:r>
              <a:t>- All three hypotheses are complete and not supported. No failed gate, interruption or adverse result is suppressed. Operator authorization is not advisor approval.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All 132 complete 256-row windows at stride 64 are the specified external departure population. Boundary -67.45792380813624 was not retuned. An alert affects the next 256 requests only; overlaps union and terminal activations truncate. These observed policy effects are not randomized causal remediation. MMD and PSI do not rescue H2.</a:t>
            </a:r>
          </a:p>
          <a:p>
            <a:r>
              <a:t>- Evidence: final-evidence-20261001/external-monitor-windows.csv; final-evidence-20261001/primary-results.json</a:t>
            </a:r>
          </a:p>
          <a:p>
            <a:r>
              <a:t>- All three hypotheses are complete and not supported. No failed gate, interruption or adverse result is suppressed. Operator authorization is not advisor approval.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Invocation uses only designated cell 1. Latency/errors use cells 21–25 and all 50,000 terminal latencies, including failures. Bounds use unrounded inputs; p95 is 364.3004100999999ms. Tranco is label-free alert rate. Noninferiority lower bound 0 ≥ -0.02 on 69 gold domains is a narrow passed component, not system viability.</a:t>
            </a:r>
          </a:p>
          <a:p>
            <a:r>
              <a:t>- Evidence: final-evidence-20261001/operational-runs.csv; final-evidence-20261001/primary-gates.csv</a:t>
            </a:r>
          </a:p>
          <a:p>
            <a:r>
              <a:t>- All three hypotheses are complete and not supported. No failed gate, interruption or adverse result is suppressed. Operator authorization is not advisor approval.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Fixed 1% c8 attempted throughput 1243.93–1272.10 requests/s versus 398.91–502.69 at c64. All three fixed c128 prevalence groups have errors: 120, 36, 59 respectively for 1%, 0.1%, 5%. The live shift uses a different stream, 8,701 requests/run and c1; it cannot substitute for the designated H3 benchmark. Across all five live runs there are 41,265 physical attempts/43,505 requests and exact offline/live trace agreement. Two sessions and fixed workload order confound session effects with some descriptive comparisons.</a:t>
            </a:r>
          </a:p>
          <a:p>
            <a:r>
              <a:t>- Evidence: final-evidence-20261001/operational-groups.csv; final-evidence-20261001/operational-runs.csv</a:t>
            </a:r>
          </a:p>
          <a:p>
            <a:r>
              <a:t>- All three hypotheses are complete and not supported. No failed gate, interruption or adverse result is suppressed. Operator authorization is not advisor approval.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frozen secondary schema provides full mixed-class metrics only internally and for gold+certified. Gold/certified count strata, positive-tier recall and Tranco label-free alerts remain separate. AP and ECE depend on this observed mixture, not deployment prevalence. Permutation consumed-label digests were not retained; varying ranking metrics cannot certify leakage or its absence. Original+3 separate probe streams each have 16,370 rows and 252 overlapping windows, with all score/decision/alert transitions exported.</a:t>
            </a:r>
          </a:p>
          <a:p>
            <a:r>
              <a:t>- Evidence: final-evidence-20261001/secondary-verification.json; final-evidence-20261001/complete-secondary-results.json</a:t>
            </a:r>
          </a:p>
          <a:p>
            <a:r>
              <a:t>- All three hypotheses are complete and not supported. No failed gate, interruption or adverse result is suppressed. Operator authorization is not advisor approval.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500"/>
              </a:spcAft>
            </a:pPr>
            <a:r>
              <a:rPr sz="1200" b="0">
                <a:solidFill>
                  <a:srgbClr val="2F3337"/>
                </a:solidFill>
                <a:latin typeface="Arial"/>
              </a:rPr>
              <a:t>- The narrative is design → evaluation → diagnosis → modification → measured comparison. Original H1/H2/H3 remain unsupported; nine component checks pass. D remains unsupported, with exact invariance achieved. S passes four performance/reliability components but not strict response agreement. These findings support concrete, qualified engineering decisions rather than a claim that every joint requirement was met.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500"/>
              </a:spcAft>
            </a:pPr>
            <a:r>
              <a:rPr sz="1200" b="0">
                <a:solidFill>
                  <a:srgbClr val="2F3337"/>
                </a:solidFill>
                <a:latin typeface="Arial"/>
              </a:rPr>
              <a:t>- The original October 1 package, author manuscript, frozen source and interrupted evidence are preserved. On October 2 the operator explicitly authorized one full recovery schedule after transient AC loss. The first 45 arms never enter the primary S result. The new run retained 37 preflight samples over 184.66 seconds and 414 schedule samples, with zero recorded guard violations. No advisor or institutional approval is claimed. Deliverables retain the original credential wording and updated abstract/navigation.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Complete gate list. Count denominators and CP bounds are in primary-gates.csv; point differences, bootstrap intervals and domain counts are in paired-contrasts.csv. Conjunctive support requires every component. Unsupported is not synonymous with all components failing.</a:t>
            </a:r>
          </a:p>
          <a:p>
            <a:r>
              <a:t>- Evidence: final-evidence-20261001/primary-gates.csv; final-evidence-20261001/paired-contrasts.csv</a:t>
            </a:r>
          </a:p>
          <a:p>
            <a:r>
              <a:t>- All three hypotheses are complete and not supported. No failed gate, interruption or adverse result is suppressed. Operator authorization is not advisor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Complete gate list. Count denominators and CP bounds are in primary-gates.csv; point differences, bootstrap intervals and domain counts are in paired-contrasts.csv. Conjunctive support requires every component. Unsupported is not synonymous with all components failing.</a:t>
            </a:r>
          </a:p>
          <a:p>
            <a:r>
              <a:t>- Evidence: final-evidence-20261001/primary-gates.csv; final-evidence-20261001/paired-contrasts.csv</a:t>
            </a:r>
          </a:p>
          <a:p>
            <a:r>
              <a:t>- All three hypotheses are complete and not supported. No failed gate, interruption or adverse result is suppressed. Operator authorization is not advisor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Complete gate list. Count denominators and CP bounds are in primary-gates.csv; point differences, bootstrap intervals and domain counts are in paired-contrasts.csv. Conjunctive support requires every component. Unsupported is not synonymous with all components failing.</a:t>
            </a:r>
          </a:p>
          <a:p>
            <a:r>
              <a:t>- Evidence: final-evidence-20261001/primary-gates.csv; final-evidence-20261001/paired-contrasts.csv</a:t>
            </a:r>
          </a:p>
          <a:p>
            <a:r>
              <a:t>- All three hypotheses are complete and not supported. No failed gate, interruption or adverse result is suppressed. Operator authorization is not advisor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These are pooled five-run values, not the best run or averages of quantiles. All ordinal membership, physical counters, elapsed/drain time, attempted throughput and successful throughput are in the run CSV. Group71–75 spans sessions. No post hoc adjustment separates workload from session effects.</a:t>
            </a:r>
          </a:p>
          <a:p>
            <a:r>
              <a:t>- Evidence: final-evidence-20261001/operational-groups.csv; final-evidence-20261001/operational-runs.csv</a:t>
            </a:r>
          </a:p>
          <a:p>
            <a:r>
              <a:t>- All three hypotheses are complete and not supported. No failed gate, interruption or adverse result is suppressed. Operator authorization is not advisor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These are pooled five-run values, not the best run or averages of quantiles. All ordinal membership, physical counters, elapsed/drain time, attempted throughput and successful throughput are in the run CSV. Group71–75 spans sessions. No post hoc adjustment separates workload from session effects.</a:t>
            </a:r>
          </a:p>
          <a:p>
            <a:r>
              <a:t>- Evidence: final-evidence-20261001/operational-groups.csv; final-evidence-20261001/operational-runs.csv</a:t>
            </a:r>
          </a:p>
          <a:p>
            <a:r>
              <a:t>- All three hypotheses are complete and not supported. No failed gate, interruption or adverse result is suppressed. Operator authorization is not advisor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These are pooled five-run values, not the best run or averages of quantiles. All ordinal membership, physical counters, elapsed/drain time, attempted throughput and successful throughput are in the run CSV. Group71–75 spans sessions. No post hoc adjustment separates workload from session effects.</a:t>
            </a:r>
          </a:p>
          <a:p>
            <a:r>
              <a:t>- Evidence: final-evidence-20261001/operational-groups.csv; final-evidence-20261001/operational-runs.csv</a:t>
            </a:r>
          </a:p>
          <a:p>
            <a:r>
              <a:t>- All three hypotheses are complete and not supported. No failed gate, interruption or adverse result is suppressed. Operator authorization is not advisor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This diagram organizes the work as engineering iteration. Original H1/H2/H3 remain not supported under unchanged conjunctive gates. Nine original component checks pass. The D requirement is separate, and its exact-invariance diagnostic is not retroactively promoted to a new confirmatory hypothesis. Methods record the actual chronology once.</a:t>
            </a:r>
          </a:p>
          <a:p>
            <a:r>
              <a:t>- Evidence: followup-20261001/verified-detection-v1/verification.json; comparison-specification-v1.md; execution-manifest-v1.json. Original findings: final-evidence-20261001/.</a:t>
            </a:r>
          </a:p>
          <a:p>
            <a:r>
              <a:t>- The bounded extension was specified October 1, 2026 after the initial results and before retrieval, fitting and scoring of its additional benchmark. It is development-informed engineering iteration, not an original confirmatory hypothesis. Operator authorization is not advisor or institutional approval. Original H1–H3 decisions are unchanged. S is now complete under the disclosed October 2 environmental-recovery amendment; original hypotheses and all thresholds remain unchanged.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Original descriptive is_https PSI motivates investigation but does not prove the cause of external false positives. Transport-neutral inputs preserve raw URLs, canonicalization and overlap rules. Shared versus worker-owned clients change client topology only. Instrumented development timings are excluded from final S evidence. Technical grounding includes Arp et al. (2022), Pendlebury et al. (2019), Guo et al. (2017) and Geifman and El-Yaniv (2019); these references do not establish novelty for the intervention.</a:t>
            </a:r>
          </a:p>
          <a:p>
            <a:r>
              <a:t>- Evidence: followup-20261001/verified-detection-v1/verification.json; comparison-specification-v1.md; execution-manifest-v1.json. Original findings: final-evidence-20261001/.</a:t>
            </a:r>
          </a:p>
          <a:p>
            <a:r>
              <a:t>- The bounded extension was specified October 1, 2026 after the initial results and before retrieval, fitting and scoring of its additional benchmark. It is development-informed engineering iteration, not an original confirmatory hypothesis. Operator authorization is not advisor or institutional approval. Original H1–H3 decisions are unchanged. S is now complete under the disclosed October 2 environmental-recovery amendment; original hypotheses and all thresholds remain unchanged.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Mendeley DOI 10.17632/c2gw7fy2j4.3, CC BY 4.0. Publisher metadata says May 2020 while the associated preprint says March; use '2020 benchmark.' Quarantine reason incidences overlap and must not be summed as distinct excluded rows. Largest cluster: 351 records. Candidate fit: 166,248 training rows, convergence at 4,971/5,000 iterations. Validation: 32,695 rows; one-sided CP FPR upper bound 0.9968%. Candidate threshold 0.6815549262616749; comparator 0.2670846328466124. Both thresholds froze before additional-benchmark predictions.</a:t>
            </a:r>
          </a:p>
          <a:p>
            <a:r>
              <a:t>- Evidence: followup-20261001/verified-detection-v1/verification.json; comparison-specification-v1.md; execution-manifest-v1.json. Original findings: final-evidence-20261001/.</a:t>
            </a:r>
          </a:p>
          <a:p>
            <a:r>
              <a:t>- The bounded extension was specified October 1, 2026 after the initial results and before retrieval, fitting and scoring of its additional benchmark. It is development-informed engineering iteration, not an original confirmatory hypothesis. Operator authorization is not advisor or institutional approval. Original H1–H3 decisions are unchanged. S is now complete under the disclosed October 2 environmental-recovery amendment; original hypotheses and all thresholds remain unchanged.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Comparator counts: TP 4,619; FN 32; FP 3,940; TN 31. Candidate: TP 4,435; FN 216; FP 3,689; TN 282. Candidate FPR 97.5% interval [91.8651%, 93.9100%]. D requires at least five points of recall gain, a lower 97.5% interval bound above zero and observed candidate FPR at most 1%; all three fail. The candidate satisfies the representation check separately. Ten thousand paired registrable-domain resamples; seed 20261001; zero undefined replicates. Ranking and Brier changes are descriptive, not additional significance claims. Separate arithmetic recomputation verifies every summary; it is not external independent replication.</a:t>
            </a:r>
          </a:p>
          <a:p>
            <a:r>
              <a:t>- Evidence: followup-20261001/verified-detection-v1/verification.json; comparison-specification-v1.md; execution-manifest-v1.json. Original findings: final-evidence-20261001/.</a:t>
            </a:r>
          </a:p>
          <a:p>
            <a:r>
              <a:t>- The bounded extension was specified October 1, 2026 after the initial results and before retrieval, fitting and scoring of its additional benchmark. It is development-informed engineering iteration, not an original confirmatory hypothesis. Operator authorization is not advisor or institutional approval. Original H1–H3 decisions are unchanged. S is now complete under the disclosed October 2 environmental-recovery amendment; original hypotheses and all thresholds remain unchanged.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This is a positive, exact implementation-conformance result under a specified transformation. Removing scheme from every affected feature, not merely its binary indicator, gives the property. Maximum comparator absolute score difference: 0.99664935. All raw observations remain intact. This result must not be described as successful detector repair, prospective temporal validation or a newly passing original hypothesis.</a:t>
            </a:r>
          </a:p>
          <a:p>
            <a:r>
              <a:t>- Evidence: followup-20261001/verified-detection-v1/verification.json; comparison-specification-v1.md; execution-manifest-v1.json. Original findings: final-evidence-20261001/.</a:t>
            </a:r>
          </a:p>
          <a:p>
            <a:r>
              <a:t>- The bounded extension was specified October 1, 2026 after the initial results and before retrieval, fitting and scoring of its additional benchmark. It is development-informed engineering iteration, not an original confirmatory hypothesis. Operator authorization is not advisor or institutional approval. Original H1–H3 decisions are unchanged. S is now complete under the disclosed October 2 environmental-recovery amendment; original hypotheses and all thresholds remain unchanged.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200" b="0">
                <a:solidFill>
                  <a:srgbClr val="2F3337"/>
                </a:solidFill>
                <a:latin typeface="Arial"/>
              </a:rPr>
              <a:t>- Complete 80-arm schedule; 800,000 measured and 80,000 warmup requests. One total measured error: structural c64 pair 2 shared timeout, 2,019.144208 ms. Zero warmup errors. Among 99,999 comparable primary pairs, 99,200 differ only in admission sequence. Exact response agreement excludes only request IDs. Prediction agreement additionally excludes sequence and is separately descriptive. All ten primary p95 ratios are lower than one. The 97.5% interval uses 10,000 resamples and seed 20261002. A measured service benefit does not cure external detection specificity or change original H3.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200" b="0">
                <a:solidFill>
                  <a:srgbClr val="2F3337"/>
                </a:solidFill>
                <a:latin typeface="Arial"/>
              </a:rPr>
              <a:t>- Source: verified-service-v2/primary-pairs.csv. Each arm has 10,000 measured attempts after 1,000 warmups. Alternating client order, fresh service per arm. Bootstrap unit is the pair, not individual requests. Worker p95 ranges from 67.27 to 74.72 ms. Ratio estimates are conditional on this machine and synthetic workload.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200" b="0">
                <a:solidFill>
                  <a:srgbClr val="2F3337"/>
                </a:solidFill>
                <a:latin typeface="Arial"/>
              </a:rPr>
              <a:t>- Source: verified-service-v2/group-metrics.csv. Attempted throughput divides total attempts by summed measured phase duration, excluding warmup and drains. Failure-only latency is undefined in seven groups because they have zero errors. The sole shared structural timeout is 2,019.144208 ms. Full success/failure/all-request quantiles and physical counters are exported. Control results do not isolate individual pool, scheduler or queueing mechanisms.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theme" Target="../theme/theme2.xml"/><Relationship Id="rId11"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hyperlink" Target="https://github.com/KrtiT/automated-phishing-detection-public/commits/praxis-realignment-v3/"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186623" y="1559004"/>
            <a:ext cx="5320839" cy="3819819"/>
          </a:xfrm>
        </p:spPr>
        <p:txBody>
          <a:bodyPr wrap="square" lIns="0" tIns="0" rIns="146304" bIns="0" anchor="t">
            <a:noAutofit/>
          </a:bodyPr>
          <a:lstStyle/>
          <a:p>
            <a:pPr>
              <a:lnSpc>
                <a:spcPct val="104000"/>
              </a:lnSpc>
              <a:spcAft>
                <a:spcPts val="1500"/>
              </a:spcAft>
            </a:pPr>
            <a:endParaRPr lang="en-US" sz="2000" dirty="0">
              <a:latin typeface="+mj-lt"/>
              <a:ea typeface="ＭＳ Ｐゴシック" charset="0"/>
            </a:endParaRPr>
          </a:p>
        </p:txBody>
      </p:sp>
      <p:sp>
        <p:nvSpPr>
          <p:cNvPr id="15365" name="Slide Number Placeholder 1"/>
          <p:cNvSpPr>
            <a:spLocks noGrp="1"/>
          </p:cNvSpPr>
          <p:nvPr>
            <p:ph type="sldNum" sz="quarter" idx="4294967295"/>
          </p:nvPr>
        </p:nvSpPr>
        <p:spPr>
          <a:xfrm>
            <a:off x="7010400" y="6356354"/>
            <a:ext cx="2133600" cy="365125"/>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endParaRPr lang="en-US" sz="1400" dirty="0">
              <a:solidFill>
                <a:prstClr val="black"/>
              </a:solidFill>
            </a:endParaRPr>
          </a:p>
        </p:txBody>
      </p:sp>
      <p:sp>
        <p:nvSpPr>
          <p:cNvPr id="15366" name="Rectangle 15365"/>
          <p:cNvSpPr/>
          <p:nvPr/>
        </p:nvSpPr>
        <p:spPr>
          <a:xfrm>
            <a:off x="365760" y="1508760"/>
            <a:ext cx="4983480" cy="3566160"/>
          </a:xfrm>
          <a:prstGeom prst="rect">
            <a:avLst/>
          </a:prstGeom>
          <a:solidFill>
            <a:srgbClr val="05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7" name="TextBox 15366"/>
          <p:cNvSpPr txBox="1"/>
          <p:nvPr/>
        </p:nvSpPr>
        <p:spPr>
          <a:xfrm>
            <a:off x="594360" y="1691640"/>
            <a:ext cx="4572000" cy="1051560"/>
          </a:xfrm>
          <a:prstGeom prst="rect">
            <a:avLst/>
          </a:prstGeom>
          <a:noFill/>
        </p:spPr>
        <p:txBody>
          <a:bodyPr wrap="square" anchor="t" lIns="0" rIns="0" tIns="0" bIns="0">
            <a:spAutoFit/>
          </a:bodyPr>
          <a:lstStyle/>
          <a:p>
            <a:pPr algn="l"/>
            <a:r>
              <a:rPr sz="2400" b="1">
                <a:solidFill>
                  <a:srgbClr val="FFFFFF"/>
                </a:solidFill>
                <a:latin typeface="Arial"/>
              </a:rPr>
              <a:t>Automated Phishing Detection</a:t>
            </a:r>
            <a:br/>
            <a:r>
              <a:rPr sz="2400" b="1">
                <a:solidFill>
                  <a:srgbClr val="FFFFFF"/>
                </a:solidFill>
                <a:latin typeface="Arial"/>
              </a:rPr>
              <a:t>for Frontier AI Inference</a:t>
            </a:r>
          </a:p>
        </p:txBody>
      </p:sp>
      <p:sp>
        <p:nvSpPr>
          <p:cNvPr id="15368" name="TextBox 15367"/>
          <p:cNvSpPr txBox="1"/>
          <p:nvPr/>
        </p:nvSpPr>
        <p:spPr>
          <a:xfrm>
            <a:off x="594360" y="2880360"/>
            <a:ext cx="4572000" cy="457200"/>
          </a:xfrm>
          <a:prstGeom prst="rect">
            <a:avLst/>
          </a:prstGeom>
          <a:noFill/>
        </p:spPr>
        <p:txBody>
          <a:bodyPr wrap="square" anchor="t" lIns="0" rIns="0" tIns="0" bIns="0">
            <a:spAutoFit/>
          </a:bodyPr>
          <a:lstStyle/>
          <a:p>
            <a:pPr algn="l"/>
            <a:r>
              <a:rPr sz="1600" b="0">
                <a:solidFill>
                  <a:srgbClr val="FFFFFF"/>
                </a:solidFill>
                <a:latin typeface="Arial"/>
              </a:rPr>
              <a:t>Krti Tallam | October 2, 2026</a:t>
            </a:r>
          </a:p>
        </p:txBody>
      </p:sp>
      <p:sp>
        <p:nvSpPr>
          <p:cNvPr id="15369" name="TextBox 15368"/>
          <p:cNvSpPr txBox="1"/>
          <p:nvPr/>
        </p:nvSpPr>
        <p:spPr>
          <a:xfrm>
            <a:off x="594360" y="3520440"/>
            <a:ext cx="4572000" cy="1280160"/>
          </a:xfrm>
          <a:prstGeom prst="rect">
            <a:avLst/>
          </a:prstGeom>
          <a:noFill/>
        </p:spPr>
        <p:txBody>
          <a:bodyPr wrap="square" anchor="t" lIns="0" rIns="0" tIns="0" bIns="0">
            <a:spAutoFit/>
          </a:bodyPr>
          <a:lstStyle/>
          <a:p>
            <a:pPr algn="l"/>
            <a:r>
              <a:rPr sz="1700" b="0">
                <a:solidFill>
                  <a:srgbClr val="FFFFFF"/>
                </a:solidFill>
                <a:latin typeface="Arial"/>
              </a:rPr>
              <a:t>Design → evaluation → diagnosis</a:t>
            </a:r>
            <a:br/>
            <a:r>
              <a:rPr sz="1700" b="0">
                <a:solidFill>
                  <a:srgbClr val="FFFFFF"/>
                </a:solidFill>
                <a:latin typeface="Arial"/>
              </a:rPr>
              <a:t>Modification → measured comparison</a:t>
            </a:r>
            <a:br/>
            <a:r>
              <a:rPr sz="1700" b="0">
                <a:solidFill>
                  <a:srgbClr val="FFFFFF"/>
                </a:solidFill>
                <a:latin typeface="Arial"/>
              </a:rPr>
              <a:t>Complete research revision</a:t>
            </a:r>
          </a:p>
        </p:txBody>
      </p:sp>
    </p:spTree>
    <p:extLst>
      <p:ext uri="{BB962C8B-B14F-4D97-AF65-F5344CB8AC3E}">
        <p14:creationId xmlns:p14="http://schemas.microsoft.com/office/powerpoint/2010/main" val="25399195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836CC-FD00-C345-BAEB-837501B6C1B7}"/>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The questions promised in August and September</a:t>
            </a:r>
          </a:p>
        </p:txBody>
      </p:sp>
      <p:sp>
        <p:nvSpPr>
          <p:cNvPr id="4" name="TextBox 3"/>
          <p:cNvSpPr txBox="1"/>
          <p:nvPr/>
        </p:nvSpPr>
        <p:spPr>
          <a:xfrm>
            <a:off x="530352" y="1097280"/>
            <a:ext cx="8083296" cy="914400"/>
          </a:xfrm>
          <a:prstGeom prst="rect">
            <a:avLst/>
          </a:prstGeom>
          <a:noFill/>
        </p:spPr>
        <p:txBody>
          <a:bodyPr wrap="square" anchor="t" lIns="0" rIns="0" tIns="0" bIns="0">
            <a:spAutoFit/>
          </a:bodyPr>
          <a:lstStyle/>
          <a:p>
            <a:pPr algn="l"/>
            <a:r>
              <a:rPr sz="1700" b="0">
                <a:solidFill>
                  <a:srgbClr val="053C5A"/>
                </a:solidFill>
                <a:latin typeface="Arial"/>
              </a:rPr>
              <a:t>RQ1: What incremental value do structural URL features and character-level representations provide under registrable-domain-disjoint and external evaluation?</a:t>
            </a:r>
          </a:p>
        </p:txBody>
      </p:sp>
      <p:sp>
        <p:nvSpPr>
          <p:cNvPr id="5" name="TextBox 4"/>
          <p:cNvSpPr txBox="1"/>
          <p:nvPr/>
        </p:nvSpPr>
        <p:spPr>
          <a:xfrm>
            <a:off x="530352" y="2194560"/>
            <a:ext cx="8083296" cy="914400"/>
          </a:xfrm>
          <a:prstGeom prst="rect">
            <a:avLst/>
          </a:prstGeom>
          <a:noFill/>
        </p:spPr>
        <p:txBody>
          <a:bodyPr wrap="square" anchor="t" lIns="0" rIns="0" tIns="0" bIns="0">
            <a:spAutoFit/>
          </a:bodyPr>
          <a:lstStyle/>
          <a:p>
            <a:pPr algn="l"/>
            <a:r>
              <a:rPr sz="1700" b="0">
                <a:solidFill>
                  <a:srgbClr val="053C5A"/>
                </a:solidFill>
                <a:latin typeface="Arial"/>
              </a:rPr>
              <a:t>RQ2: Can GMM-based monitoring detect an external source/domain shift and guide escalation without exceeding the low-FPR operating constraint?</a:t>
            </a:r>
          </a:p>
        </p:txBody>
      </p:sp>
      <p:sp>
        <p:nvSpPr>
          <p:cNvPr id="6" name="TextBox 5"/>
          <p:cNvSpPr txBox="1"/>
          <p:nvPr/>
        </p:nvSpPr>
        <p:spPr>
          <a:xfrm>
            <a:off x="530352" y="3291839"/>
            <a:ext cx="8083296" cy="914400"/>
          </a:xfrm>
          <a:prstGeom prst="rect">
            <a:avLst/>
          </a:prstGeom>
          <a:noFill/>
        </p:spPr>
        <p:txBody>
          <a:bodyPr wrap="square" anchor="t" lIns="0" rIns="0" tIns="0" bIns="0">
            <a:spAutoFit/>
          </a:bodyPr>
          <a:lstStyle/>
          <a:p>
            <a:pPr algn="l"/>
            <a:r>
              <a:rPr sz="1700" b="0">
                <a:solidFill>
                  <a:srgbClr val="053C5A"/>
                </a:solidFill>
                <a:latin typeface="Arial"/>
              </a:rPr>
              <a:t>RQ3: What detection, escalation, throughput, and latency tradeoffs determine whether the fixed cascade is viable inline?</a:t>
            </a:r>
          </a:p>
        </p:txBody>
      </p:sp>
      <p:sp>
        <p:nvSpPr>
          <p:cNvPr id="7" name="Rounded Rectangle 6"/>
          <p:cNvSpPr/>
          <p:nvPr/>
        </p:nvSpPr>
        <p:spPr>
          <a:xfrm>
            <a:off x="438912" y="4864608"/>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10" b="1">
                <a:solidFill>
                  <a:srgbClr val="053C5A"/>
                </a:solidFill>
                <a:latin typeface="Arial"/>
              </a:rPr>
              <a:t>Exact active wording: August 20 and September 3 decks; carried forward September 17.</a:t>
            </a:r>
          </a:p>
        </p:txBody>
      </p:sp>
    </p:spTree>
    <p:extLst>
      <p:ext uri="{BB962C8B-B14F-4D97-AF65-F5344CB8AC3E}">
        <p14:creationId xmlns:p14="http://schemas.microsoft.com/office/powerpoint/2010/main" val="674348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57158-7B14-0807-22A4-B8EA4EE80C6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4D5243-EA17-1E56-AC2D-537A6CC76ED8}"/>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Evidence coverage and population boundaries</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What was measured</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Internal: 34,593 rows; 14,326 positives and 20,267 negatives.</a:t>
            </a:r>
          </a:p>
          <a:p>
            <a:pPr>
              <a:lnSpc>
                <a:spcPct val="102000"/>
              </a:lnSpc>
              <a:spcAft>
                <a:spcPts val="1200"/>
              </a:spcAft>
            </a:pPr>
            <a:r>
              <a:rPr sz="1400" b="0">
                <a:solidFill>
                  <a:srgbClr val="2F3337"/>
                </a:solidFill>
                <a:latin typeface="Arial"/>
              </a:rPr>
              <a:t>• External: 8,701 retained rows; gold 69, certified 2,497.</a:t>
            </a:r>
          </a:p>
          <a:p>
            <a:pPr>
              <a:lnSpc>
                <a:spcPct val="102000"/>
              </a:lnSpc>
              <a:spcAft>
                <a:spcPts val="1200"/>
              </a:spcAft>
            </a:pPr>
            <a:r>
              <a:rPr sz="1400" b="0">
                <a:solidFill>
                  <a:srgbClr val="2F3337"/>
                </a:solidFill>
                <a:latin typeface="Arial"/>
              </a:rPr>
              <a:t>• 125 operational cells; 250 owned service/client exits verified.</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What the labels mean</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Publisher reference labels, not independent adjudication.</a:t>
            </a:r>
          </a:p>
          <a:p>
            <a:pPr>
              <a:lnSpc>
                <a:spcPct val="102000"/>
              </a:lnSpc>
              <a:spcAft>
                <a:spcPts val="1200"/>
              </a:spcAft>
            </a:pPr>
            <a:r>
              <a:rPr sz="1400" b="0">
                <a:solidFill>
                  <a:srgbClr val="2F3337"/>
                </a:solidFill>
                <a:latin typeface="Arial"/>
              </a:rPr>
              <a:t>• Tranco: 1,163 label-free controls, never labeled FPR.</a:t>
            </a:r>
          </a:p>
          <a:p>
            <a:pPr>
              <a:lnSpc>
                <a:spcPct val="102000"/>
              </a:lnSpc>
              <a:spcAft>
                <a:spcPts val="1200"/>
              </a:spcAft>
            </a:pPr>
            <a:r>
              <a:rPr sz="1400" b="0">
                <a:solidFill>
                  <a:srgbClr val="2F3337"/>
                </a:solidFill>
                <a:latin typeface="Arial"/>
              </a:rPr>
              <a:t>• 72 retained + 53 new cells; no accepted adverse repeat replaced.</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URL-representation and two-session amendments remain disclosed; no claim of lifetime-unseen test data.</a:t>
            </a:r>
          </a:p>
        </p:txBody>
      </p:sp>
    </p:spTree>
    <p:extLst>
      <p:ext uri="{BB962C8B-B14F-4D97-AF65-F5344CB8AC3E}">
        <p14:creationId xmlns:p14="http://schemas.microsoft.com/office/powerpoint/2010/main" val="3215384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37A89-56D0-5E22-459D-8D9C98CD26A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CF700E-46B8-44EE-D90D-90A730C22603}"/>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RQ1: internal recall does not ensure external specificity</a:t>
            </a:r>
          </a:p>
        </p:txBody>
      </p:sp>
      <p:graphicFrame>
        <p:nvGraphicFramePr>
          <p:cNvPr id="4" name="Table 3"/>
          <p:cNvGraphicFramePr>
            <a:graphicFrameLocks noGrp="1"/>
          </p:cNvGraphicFramePr>
          <p:nvPr/>
        </p:nvGraphicFramePr>
        <p:xfrm>
          <a:off x="438912" y="1188720"/>
          <a:ext cx="8247885" cy="2606040"/>
        </p:xfrm>
        <a:graphic>
          <a:graphicData uri="http://schemas.openxmlformats.org/drawingml/2006/table">
            <a:tbl>
              <a:tblPr firstRow="1" bandRow="1">
                <a:tableStyleId>{5C22544A-7EE6-4342-B048-85BDC9FD1C3A}</a:tableStyleId>
              </a:tblPr>
              <a:tblGrid>
                <a:gridCol w="2061972"/>
                <a:gridCol w="1484619"/>
                <a:gridCol w="1484619"/>
                <a:gridCol w="1484619"/>
                <a:gridCol w="1732056"/>
              </a:tblGrid>
              <a:tr h="521208">
                <a:tc>
                  <a:txBody>
                    <a:bodyPr/>
                    <a:lstStyle/>
                    <a:p>
                      <a:pPr>
                        <a:spcAft>
                          <a:spcPts val="0"/>
                        </a:spcAft>
                      </a:pPr>
                      <a:r>
                        <a:rPr sz="1300" b="1">
                          <a:solidFill>
                            <a:srgbClr val="053C5A"/>
                          </a:solidFill>
                          <a:latin typeface="Arial"/>
                        </a:rPr>
                        <a:t>Frozen detector</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Internal recall</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Internal FPR</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Gold recall</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Certified FPR</a:t>
                      </a:r>
                    </a:p>
                  </a:txBody>
                  <a:tcPr anchor="ctr" marL="64008" marR="64008" marT="27432" marB="27432">
                    <a:solidFill>
                      <a:srgbClr val="E9F3F7"/>
                    </a:solidFill>
                  </a:tcPr>
                </a:tc>
              </a:tr>
              <a:tr h="521208">
                <a:tc>
                  <a:txBody>
                    <a:bodyPr/>
                    <a:lstStyle/>
                    <a:p>
                      <a:pPr>
                        <a:spcAft>
                          <a:spcPts val="0"/>
                        </a:spcAft>
                      </a:pPr>
                      <a:r>
                        <a:rPr sz="1300" b="0">
                          <a:solidFill>
                            <a:srgbClr val="053C5A"/>
                          </a:solidFill>
                          <a:latin typeface="Arial"/>
                        </a:rPr>
                        <a:t>Length-only</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34.61%</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0.5872%</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23.19%</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9.4513%</a:t>
                      </a:r>
                    </a:p>
                  </a:txBody>
                  <a:tcPr anchor="ctr" marL="64008" marR="64008" marT="27432" marB="27432">
                    <a:solidFill>
                      <a:srgbClr val="FFFFFF"/>
                    </a:solidFill>
                  </a:tcPr>
                </a:tc>
              </a:tr>
              <a:tr h="521208">
                <a:tc>
                  <a:txBody>
                    <a:bodyPr/>
                    <a:lstStyle/>
                    <a:p>
                      <a:pPr>
                        <a:spcAft>
                          <a:spcPts val="0"/>
                        </a:spcAft>
                      </a:pPr>
                      <a:r>
                        <a:rPr sz="1300" b="0">
                          <a:solidFill>
                            <a:srgbClr val="053C5A"/>
                          </a:solidFill>
                          <a:latin typeface="Arial"/>
                        </a:rPr>
                        <a:t>Logistic-L1</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98.68%</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0.7747%</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100%</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90.5487%</a:t>
                      </a:r>
                    </a:p>
                  </a:txBody>
                  <a:tcPr anchor="ctr" marL="64008" marR="64008" marT="27432" marB="27432">
                    <a:solidFill>
                      <a:srgbClr val="F4F7F9"/>
                    </a:solidFill>
                  </a:tcPr>
                </a:tc>
              </a:tr>
              <a:tr h="521208">
                <a:tc>
                  <a:txBody>
                    <a:bodyPr/>
                    <a:lstStyle/>
                    <a:p>
                      <a:pPr>
                        <a:spcAft>
                          <a:spcPts val="0"/>
                        </a:spcAft>
                      </a:pPr>
                      <a:r>
                        <a:rPr sz="1300" b="0">
                          <a:solidFill>
                            <a:srgbClr val="053C5A"/>
                          </a:solidFill>
                          <a:latin typeface="Arial"/>
                        </a:rPr>
                        <a:t>Fixed cascade</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98.68%</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0.7747%</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100%</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90.5487%</a:t>
                      </a:r>
                    </a:p>
                  </a:txBody>
                  <a:tcPr anchor="ctr" marL="64008" marR="64008" marT="27432" marB="27432">
                    <a:solidFill>
                      <a:srgbClr val="FFFFFF"/>
                    </a:solidFill>
                  </a:tcPr>
                </a:tc>
              </a:tr>
              <a:tr h="521208">
                <a:tc>
                  <a:txBody>
                    <a:bodyPr/>
                    <a:lstStyle/>
                    <a:p>
                      <a:pPr>
                        <a:spcAft>
                          <a:spcPts val="0"/>
                        </a:spcAft>
                      </a:pPr>
                      <a:r>
                        <a:rPr sz="1300" b="0">
                          <a:solidFill>
                            <a:srgbClr val="053C5A"/>
                          </a:solidFill>
                          <a:latin typeface="Arial"/>
                        </a:rPr>
                        <a:t>Transformer</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99.32%</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1.0115%</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100%</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99.2791%</a:t>
                      </a:r>
                    </a:p>
                  </a:txBody>
                  <a:tcPr anchor="ctr" marL="64008" marR="64008" marT="27432" marB="27432">
                    <a:solidFill>
                      <a:srgbClr val="F4F7F9"/>
                    </a:solidFill>
                  </a:tcPr>
                </a:tc>
              </a:tr>
            </a:tbl>
          </a:graphicData>
        </a:graphic>
      </p:graphicFrame>
      <p:sp>
        <p:nvSpPr>
          <p:cNvPr id="5" name="TextBox 4"/>
          <p:cNvSpPr txBox="1"/>
          <p:nvPr/>
        </p:nvSpPr>
        <p:spPr>
          <a:xfrm>
            <a:off x="502920" y="4023360"/>
            <a:ext cx="8046720" cy="640080"/>
          </a:xfrm>
          <a:prstGeom prst="rect">
            <a:avLst/>
          </a:prstGeom>
          <a:noFill/>
        </p:spPr>
        <p:txBody>
          <a:bodyPr wrap="square" anchor="t" lIns="0" rIns="0" tIns="0" bIns="0">
            <a:spAutoFit/>
          </a:bodyPr>
          <a:lstStyle/>
          <a:p>
            <a:pPr algn="l"/>
            <a:r>
              <a:rPr sz="1600" b="1">
                <a:solidFill>
                  <a:srgbClr val="2F3337"/>
                </a:solidFill>
                <a:latin typeface="Arial"/>
              </a:rPr>
              <a:t>Every primary external FPR gate fails.</a:t>
            </a:r>
            <a:br/>
            <a:r>
              <a:rPr sz="1600" b="1">
                <a:solidFill>
                  <a:srgbClr val="2F3337"/>
                </a:solidFill>
                <a:latin typeface="Arial"/>
              </a:rPr>
              <a:t>Perfect gold recall is not evidence of a safe operating point.</a:t>
            </a:r>
          </a:p>
        </p:txBody>
      </p:sp>
      <p:sp>
        <p:nvSpPr>
          <p:cNvPr id="6" name="Rounded Rectangle 5"/>
          <p:cNvSpPr/>
          <p:nvPr/>
        </p:nvSpPr>
        <p:spPr>
          <a:xfrm>
            <a:off x="438912" y="4864608"/>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10" b="1">
                <a:solidFill>
                  <a:srgbClr val="053C5A"/>
                </a:solidFill>
                <a:latin typeface="Arial"/>
              </a:rPr>
              <a:t>Denominators: internal P=14,326 / N=20,267; external gold P=69 / certified N=2,497.</a:t>
            </a:r>
          </a:p>
        </p:txBody>
      </p:sp>
    </p:spTree>
    <p:extLst>
      <p:ext uri="{BB962C8B-B14F-4D97-AF65-F5344CB8AC3E}">
        <p14:creationId xmlns:p14="http://schemas.microsoft.com/office/powerpoint/2010/main" val="1047519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F79CD-5CD3-56F8-033F-6C82CD3630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54F1EDE-CEB2-CA7D-E65A-BECB49EC4F59}"/>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RQ1: structural gain; no incremental fixed-cascade gain</a:t>
            </a:r>
          </a:p>
        </p:txBody>
      </p:sp>
      <p:graphicFrame>
        <p:nvGraphicFramePr>
          <p:cNvPr id="4" name="Table 3"/>
          <p:cNvGraphicFramePr>
            <a:graphicFrameLocks noGrp="1"/>
          </p:cNvGraphicFramePr>
          <p:nvPr/>
        </p:nvGraphicFramePr>
        <p:xfrm>
          <a:off x="438912" y="1188720"/>
          <a:ext cx="8247886" cy="2560320"/>
        </p:xfrm>
        <a:graphic>
          <a:graphicData uri="http://schemas.openxmlformats.org/drawingml/2006/table">
            <a:tbl>
              <a:tblPr firstRow="1" bandRow="1">
                <a:tableStyleId>{5C22544A-7EE6-4342-B048-85BDC9FD1C3A}</a:tableStyleId>
              </a:tblPr>
              <a:tblGrid>
                <a:gridCol w="3464112"/>
                <a:gridCol w="1814535"/>
                <a:gridCol w="2969239"/>
              </a:tblGrid>
              <a:tr h="512064">
                <a:tc>
                  <a:txBody>
                    <a:bodyPr/>
                    <a:lstStyle/>
                    <a:p>
                      <a:pPr>
                        <a:spcAft>
                          <a:spcPts val="0"/>
                        </a:spcAft>
                      </a:pPr>
                      <a:r>
                        <a:rPr sz="1400" b="1">
                          <a:solidFill>
                            <a:srgbClr val="053C5A"/>
                          </a:solidFill>
                          <a:latin typeface="Arial"/>
                        </a:rPr>
                        <a:t>Contrast</a:t>
                      </a:r>
                    </a:p>
                  </a:txBody>
                  <a:tcPr anchor="ctr" marL="64008" marR="64008" marT="27432" marB="27432">
                    <a:solidFill>
                      <a:srgbClr val="E9F3F7"/>
                    </a:solidFill>
                  </a:tcPr>
                </a:tc>
                <a:tc>
                  <a:txBody>
                    <a:bodyPr/>
                    <a:lstStyle/>
                    <a:p>
                      <a:pPr>
                        <a:spcAft>
                          <a:spcPts val="0"/>
                        </a:spcAft>
                      </a:pPr>
                      <a:r>
                        <a:rPr sz="1400" b="1">
                          <a:solidFill>
                            <a:srgbClr val="053C5A"/>
                          </a:solidFill>
                          <a:latin typeface="Arial"/>
                        </a:rPr>
                        <a:t>Recall gain (pp)</a:t>
                      </a:r>
                    </a:p>
                  </a:txBody>
                  <a:tcPr anchor="ctr" marL="64008" marR="64008" marT="27432" marB="27432">
                    <a:solidFill>
                      <a:srgbClr val="E9F3F7"/>
                    </a:solidFill>
                  </a:tcPr>
                </a:tc>
                <a:tc>
                  <a:txBody>
                    <a:bodyPr/>
                    <a:lstStyle/>
                    <a:p>
                      <a:pPr>
                        <a:spcAft>
                          <a:spcPts val="0"/>
                        </a:spcAft>
                      </a:pPr>
                      <a:r>
                        <a:rPr sz="1400" b="1">
                          <a:solidFill>
                            <a:srgbClr val="053C5A"/>
                          </a:solidFill>
                          <a:latin typeface="Arial"/>
                        </a:rPr>
                        <a:t>Clustered 95% interval (pp)</a:t>
                      </a:r>
                    </a:p>
                  </a:txBody>
                  <a:tcPr anchor="ctr" marL="64008" marR="64008" marT="27432" marB="27432">
                    <a:solidFill>
                      <a:srgbClr val="E9F3F7"/>
                    </a:solidFill>
                  </a:tcPr>
                </a:tc>
              </a:tr>
              <a:tr h="512064">
                <a:tc>
                  <a:txBody>
                    <a:bodyPr/>
                    <a:lstStyle/>
                    <a:p>
                      <a:pPr>
                        <a:spcAft>
                          <a:spcPts val="0"/>
                        </a:spcAft>
                      </a:pPr>
                      <a:r>
                        <a:rPr sz="1400" b="0">
                          <a:solidFill>
                            <a:srgbClr val="053C5A"/>
                          </a:solidFill>
                          <a:latin typeface="Arial"/>
                        </a:rPr>
                        <a:t>Internal L1 − length</a:t>
                      </a:r>
                    </a:p>
                  </a:txBody>
                  <a:tcPr anchor="ctr" marL="64008" marR="64008" marT="27432" marB="27432">
                    <a:solidFill>
                      <a:srgbClr val="FFFFFF"/>
                    </a:solidFill>
                  </a:tcPr>
                </a:tc>
                <a:tc>
                  <a:txBody>
                    <a:bodyPr/>
                    <a:lstStyle/>
                    <a:p>
                      <a:pPr>
                        <a:spcAft>
                          <a:spcPts val="0"/>
                        </a:spcAft>
                      </a:pPr>
                      <a:r>
                        <a:rPr sz="1400" b="0">
                          <a:solidFill>
                            <a:srgbClr val="053C5A"/>
                          </a:solidFill>
                          <a:latin typeface="Arial"/>
                        </a:rPr>
                        <a:t>64.07</a:t>
                      </a:r>
                    </a:p>
                  </a:txBody>
                  <a:tcPr anchor="ctr" marL="64008" marR="64008" marT="27432" marB="27432">
                    <a:solidFill>
                      <a:srgbClr val="FFFFFF"/>
                    </a:solidFill>
                  </a:tcPr>
                </a:tc>
                <a:tc>
                  <a:txBody>
                    <a:bodyPr/>
                    <a:lstStyle/>
                    <a:p>
                      <a:pPr>
                        <a:spcAft>
                          <a:spcPts val="0"/>
                        </a:spcAft>
                      </a:pPr>
                      <a:r>
                        <a:rPr sz="1400" b="0">
                          <a:solidFill>
                            <a:srgbClr val="053C5A"/>
                          </a:solidFill>
                          <a:latin typeface="Arial"/>
                        </a:rPr>
                        <a:t>[59.99, 67.63]</a:t>
                      </a:r>
                    </a:p>
                  </a:txBody>
                  <a:tcPr anchor="ctr" marL="64008" marR="64008" marT="27432" marB="27432">
                    <a:solidFill>
                      <a:srgbClr val="FFFFFF"/>
                    </a:solidFill>
                  </a:tcPr>
                </a:tc>
              </a:tr>
              <a:tr h="512064">
                <a:tc>
                  <a:txBody>
                    <a:bodyPr/>
                    <a:lstStyle/>
                    <a:p>
                      <a:pPr>
                        <a:spcAft>
                          <a:spcPts val="0"/>
                        </a:spcAft>
                      </a:pPr>
                      <a:r>
                        <a:rPr sz="1400" b="0">
                          <a:solidFill>
                            <a:srgbClr val="053C5A"/>
                          </a:solidFill>
                          <a:latin typeface="Arial"/>
                        </a:rPr>
                        <a:t>Internal cascade − L1</a:t>
                      </a:r>
                    </a:p>
                  </a:txBody>
                  <a:tcPr anchor="ctr" marL="64008" marR="64008" marT="27432" marB="27432">
                    <a:solidFill>
                      <a:srgbClr val="F4F7F9"/>
                    </a:solidFill>
                  </a:tcPr>
                </a:tc>
                <a:tc>
                  <a:txBody>
                    <a:bodyPr/>
                    <a:lstStyle/>
                    <a:p>
                      <a:pPr>
                        <a:spcAft>
                          <a:spcPts val="0"/>
                        </a:spcAft>
                      </a:pPr>
                      <a:r>
                        <a:rPr sz="1400" b="0">
                          <a:solidFill>
                            <a:srgbClr val="053C5A"/>
                          </a:solidFill>
                          <a:latin typeface="Arial"/>
                        </a:rPr>
                        <a:t>0.00</a:t>
                      </a:r>
                    </a:p>
                  </a:txBody>
                  <a:tcPr anchor="ctr" marL="64008" marR="64008" marT="27432" marB="27432">
                    <a:solidFill>
                      <a:srgbClr val="F4F7F9"/>
                    </a:solidFill>
                  </a:tcPr>
                </a:tc>
                <a:tc>
                  <a:txBody>
                    <a:bodyPr/>
                    <a:lstStyle/>
                    <a:p>
                      <a:pPr>
                        <a:spcAft>
                          <a:spcPts val="0"/>
                        </a:spcAft>
                      </a:pPr>
                      <a:r>
                        <a:rPr sz="1400" b="0">
                          <a:solidFill>
                            <a:srgbClr val="053C5A"/>
                          </a:solidFill>
                          <a:latin typeface="Arial"/>
                        </a:rPr>
                        <a:t>[0.00, 0.00]</a:t>
                      </a:r>
                    </a:p>
                  </a:txBody>
                  <a:tcPr anchor="ctr" marL="64008" marR="64008" marT="27432" marB="27432">
                    <a:solidFill>
                      <a:srgbClr val="F4F7F9"/>
                    </a:solidFill>
                  </a:tcPr>
                </a:tc>
              </a:tr>
              <a:tr h="512064">
                <a:tc>
                  <a:txBody>
                    <a:bodyPr/>
                    <a:lstStyle/>
                    <a:p>
                      <a:pPr>
                        <a:spcAft>
                          <a:spcPts val="0"/>
                        </a:spcAft>
                      </a:pPr>
                      <a:r>
                        <a:rPr sz="1400" b="0">
                          <a:solidFill>
                            <a:srgbClr val="053C5A"/>
                          </a:solidFill>
                          <a:latin typeface="Arial"/>
                        </a:rPr>
                        <a:t>Gold L1 − length</a:t>
                      </a:r>
                    </a:p>
                  </a:txBody>
                  <a:tcPr anchor="ctr" marL="64008" marR="64008" marT="27432" marB="27432">
                    <a:solidFill>
                      <a:srgbClr val="FFFFFF"/>
                    </a:solidFill>
                  </a:tcPr>
                </a:tc>
                <a:tc>
                  <a:txBody>
                    <a:bodyPr/>
                    <a:lstStyle/>
                    <a:p>
                      <a:pPr>
                        <a:spcAft>
                          <a:spcPts val="0"/>
                        </a:spcAft>
                      </a:pPr>
                      <a:r>
                        <a:rPr sz="1400" b="0">
                          <a:solidFill>
                            <a:srgbClr val="053C5A"/>
                          </a:solidFill>
                          <a:latin typeface="Arial"/>
                        </a:rPr>
                        <a:t>76.81</a:t>
                      </a:r>
                    </a:p>
                  </a:txBody>
                  <a:tcPr anchor="ctr" marL="64008" marR="64008" marT="27432" marB="27432">
                    <a:solidFill>
                      <a:srgbClr val="FFFFFF"/>
                    </a:solidFill>
                  </a:tcPr>
                </a:tc>
                <a:tc>
                  <a:txBody>
                    <a:bodyPr/>
                    <a:lstStyle/>
                    <a:p>
                      <a:pPr>
                        <a:spcAft>
                          <a:spcPts val="0"/>
                        </a:spcAft>
                      </a:pPr>
                      <a:r>
                        <a:rPr sz="1400" b="0">
                          <a:solidFill>
                            <a:srgbClr val="053C5A"/>
                          </a:solidFill>
                          <a:latin typeface="Arial"/>
                        </a:rPr>
                        <a:t>[66.67, 86.96]</a:t>
                      </a:r>
                    </a:p>
                  </a:txBody>
                  <a:tcPr anchor="ctr" marL="64008" marR="64008" marT="27432" marB="27432">
                    <a:solidFill>
                      <a:srgbClr val="FFFFFF"/>
                    </a:solidFill>
                  </a:tcPr>
                </a:tc>
              </a:tr>
              <a:tr h="512064">
                <a:tc>
                  <a:txBody>
                    <a:bodyPr/>
                    <a:lstStyle/>
                    <a:p>
                      <a:pPr>
                        <a:spcAft>
                          <a:spcPts val="0"/>
                        </a:spcAft>
                      </a:pPr>
                      <a:r>
                        <a:rPr sz="1400" b="0">
                          <a:solidFill>
                            <a:srgbClr val="053C5A"/>
                          </a:solidFill>
                          <a:latin typeface="Arial"/>
                        </a:rPr>
                        <a:t>Gold cascade − L1</a:t>
                      </a:r>
                    </a:p>
                  </a:txBody>
                  <a:tcPr anchor="ctr" marL="64008" marR="64008" marT="27432" marB="27432">
                    <a:solidFill>
                      <a:srgbClr val="F4F7F9"/>
                    </a:solidFill>
                  </a:tcPr>
                </a:tc>
                <a:tc>
                  <a:txBody>
                    <a:bodyPr/>
                    <a:lstStyle/>
                    <a:p>
                      <a:pPr>
                        <a:spcAft>
                          <a:spcPts val="0"/>
                        </a:spcAft>
                      </a:pPr>
                      <a:r>
                        <a:rPr sz="1400" b="0">
                          <a:solidFill>
                            <a:srgbClr val="053C5A"/>
                          </a:solidFill>
                          <a:latin typeface="Arial"/>
                        </a:rPr>
                        <a:t>0.00</a:t>
                      </a:r>
                    </a:p>
                  </a:txBody>
                  <a:tcPr anchor="ctr" marL="64008" marR="64008" marT="27432" marB="27432">
                    <a:solidFill>
                      <a:srgbClr val="F4F7F9"/>
                    </a:solidFill>
                  </a:tcPr>
                </a:tc>
                <a:tc>
                  <a:txBody>
                    <a:bodyPr/>
                    <a:lstStyle/>
                    <a:p>
                      <a:pPr>
                        <a:spcAft>
                          <a:spcPts val="0"/>
                        </a:spcAft>
                      </a:pPr>
                      <a:r>
                        <a:rPr sz="1400" b="0">
                          <a:solidFill>
                            <a:srgbClr val="053C5A"/>
                          </a:solidFill>
                          <a:latin typeface="Arial"/>
                        </a:rPr>
                        <a:t>[0.00, 0.00]</a:t>
                      </a:r>
                    </a:p>
                  </a:txBody>
                  <a:tcPr anchor="ctr" marL="64008" marR="64008" marT="27432" marB="27432">
                    <a:solidFill>
                      <a:srgbClr val="F4F7F9"/>
                    </a:solidFill>
                  </a:tcPr>
                </a:tc>
              </a:tr>
            </a:tbl>
          </a:graphicData>
        </a:graphic>
      </p:graphicFrame>
      <p:sp>
        <p:nvSpPr>
          <p:cNvPr id="5" name="TextBox 4"/>
          <p:cNvSpPr txBox="1"/>
          <p:nvPr/>
        </p:nvSpPr>
        <p:spPr>
          <a:xfrm>
            <a:off x="502920" y="3931920"/>
            <a:ext cx="8046720" cy="685800"/>
          </a:xfrm>
          <a:prstGeom prst="rect">
            <a:avLst/>
          </a:prstGeom>
          <a:noFill/>
        </p:spPr>
        <p:txBody>
          <a:bodyPr wrap="square" anchor="t" lIns="0" rIns="0" tIns="0" bIns="0">
            <a:spAutoFit/>
          </a:bodyPr>
          <a:lstStyle/>
          <a:p>
            <a:pPr algn="l"/>
            <a:r>
              <a:rPr sz="1600" b="1">
                <a:solidFill>
                  <a:srgbClr val="2F3337"/>
                </a:solidFill>
                <a:latin typeface="Arial"/>
              </a:rPr>
              <a:t>The fixed band selects 0/34,593 internal and 0/8,701 external rows.</a:t>
            </a:r>
            <a:br/>
            <a:r>
              <a:rPr sz="1600" b="1">
                <a:solidFill>
                  <a:srgbClr val="2F3337"/>
                </a:solidFill>
                <a:latin typeface="Arial"/>
              </a:rPr>
              <a:t>H1: not supported — 5 pass, 5 fail; all 10 measured.</a:t>
            </a:r>
          </a:p>
        </p:txBody>
      </p:sp>
      <p:sp>
        <p:nvSpPr>
          <p:cNvPr id="6" name="Rounded Rectangle 5"/>
          <p:cNvSpPr/>
          <p:nvPr/>
        </p:nvSpPr>
        <p:spPr>
          <a:xfrm>
            <a:off x="438912" y="4864608"/>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10" b="1">
                <a:solidFill>
                  <a:srgbClr val="053C5A"/>
                </a:solidFill>
                <a:latin typeface="Arial"/>
              </a:rPr>
              <a:t>2,000 domain-clustered replicates; internal positives: 9,757 domains; gold: 69 domains.</a:t>
            </a:r>
          </a:p>
        </p:txBody>
      </p:sp>
    </p:spTree>
    <p:extLst>
      <p:ext uri="{BB962C8B-B14F-4D97-AF65-F5344CB8AC3E}">
        <p14:creationId xmlns:p14="http://schemas.microsoft.com/office/powerpoint/2010/main" val="3482487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62409-52C2-4926-742D-91E46AC78C9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16BDEC-3F9F-236B-B778-635D97CB32AC}"/>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RQ2: detecting departure did not make routing useful</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Monitoring</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External alerts: 115/132 = 87.12%; passes ≥80%.</a:t>
            </a:r>
          </a:p>
          <a:p>
            <a:pPr>
              <a:lnSpc>
                <a:spcPct val="102000"/>
              </a:lnSpc>
              <a:spcAft>
                <a:spcPts val="1200"/>
              </a:spcAft>
            </a:pPr>
            <a:r>
              <a:rPr sz="1400" b="0">
                <a:solidFill>
                  <a:srgbClr val="2F3337"/>
                </a:solidFill>
                <a:latin typeface="Arial"/>
              </a:rPr>
              <a:t>• Original audit: 28/252 = 11.11%; fails ≤5%.</a:t>
            </a:r>
          </a:p>
          <a:p>
            <a:pPr>
              <a:lnSpc>
                <a:spcPct val="102000"/>
              </a:lnSpc>
              <a:spcAft>
                <a:spcPts val="1200"/>
              </a:spcAft>
            </a:pPr>
            <a:r>
              <a:rPr sz="1400" b="0">
                <a:solidFill>
                  <a:srgbClr val="2F3337"/>
                </a:solidFill>
                <a:latin typeface="Arial"/>
              </a:rPr>
              <a:t>• MMD and PSI: 132/132 external alerts; descriptive only.</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Routing consequences</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Transformer routing: 8,253/8,701 = 94.85%.</a:t>
            </a:r>
          </a:p>
          <a:p>
            <a:pPr>
              <a:lnSpc>
                <a:spcPct val="102000"/>
              </a:lnSpc>
              <a:spcAft>
                <a:spcPts val="1200"/>
              </a:spcAft>
            </a:pPr>
            <a:r>
              <a:rPr sz="1400" b="0">
                <a:solidFill>
                  <a:srgbClr val="2F3337"/>
                </a:solidFill>
                <a:latin typeface="Arial"/>
              </a:rPr>
              <a:t>• Gold recall gain: 0; interval [0,0].</a:t>
            </a:r>
          </a:p>
          <a:p>
            <a:pPr>
              <a:lnSpc>
                <a:spcPct val="102000"/>
              </a:lnSpc>
              <a:spcAft>
                <a:spcPts val="1200"/>
              </a:spcAft>
            </a:pPr>
            <a:r>
              <a:rPr sz="1400" b="0">
                <a:solidFill>
                  <a:srgbClr val="2F3337"/>
                </a:solidFill>
                <a:latin typeface="Arial"/>
              </a:rPr>
              <a:t>• Certified FP: 2,261 → 2,479; policy FPR 99.2791%.</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H2: not supported — 1 pass, 3 fail. Overlapping windows do not establish independent harmful-drift events.</a:t>
            </a:r>
          </a:p>
        </p:txBody>
      </p:sp>
    </p:spTree>
    <p:extLst>
      <p:ext uri="{BB962C8B-B14F-4D97-AF65-F5344CB8AC3E}">
        <p14:creationId xmlns:p14="http://schemas.microsoft.com/office/powerpoint/2010/main" val="179114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ED4A2-1328-581D-2C67-0C687D403B9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8FFAB65-5762-BAD8-130D-89EFD68C4BFD}"/>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RQ3: low transformer use did not guarantee low latency</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Primary operational gates</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Reference physical calls: 0/10,000; passes ≤30%.</a:t>
            </a:r>
          </a:p>
          <a:p>
            <a:pPr>
              <a:lnSpc>
                <a:spcPct val="102000"/>
              </a:lnSpc>
              <a:spcAft>
                <a:spcPts val="1200"/>
              </a:spcAft>
            </a:pPr>
            <a:r>
              <a:rPr sz="1400" b="0">
                <a:solidFill>
                  <a:srgbClr val="2F3337"/>
                </a:solidFill>
                <a:latin typeface="Arial"/>
              </a:rPr>
              <a:t>• Concurrency-64 pooled p95: 364.30 ms; fails ≤200 ms.</a:t>
            </a:r>
          </a:p>
          <a:p>
            <a:pPr>
              <a:lnSpc>
                <a:spcPct val="102000"/>
              </a:lnSpc>
              <a:spcAft>
                <a:spcPts val="1200"/>
              </a:spcAft>
            </a:pPr>
            <a:r>
              <a:rPr sz="1400" b="0">
                <a:solidFill>
                  <a:srgbClr val="2F3337"/>
                </a:solidFill>
                <a:latin typeface="Arial"/>
              </a:rPr>
              <a:t>• Errors: 0/50,000; passes &lt;0.1%.</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External safeguards</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Cascade certified FPR: 90.55%; transformer: 99.28%.</a:t>
            </a:r>
          </a:p>
          <a:p>
            <a:pPr>
              <a:lnSpc>
                <a:spcPct val="102000"/>
              </a:lnSpc>
              <a:spcAft>
                <a:spcPts val="1200"/>
              </a:spcAft>
            </a:pPr>
            <a:r>
              <a:rPr sz="1400" b="0">
                <a:solidFill>
                  <a:srgbClr val="2F3337"/>
                </a:solidFill>
                <a:latin typeface="Arial"/>
              </a:rPr>
              <a:t>• Both alert on 1,163/1,163 Tranco controls.</a:t>
            </a:r>
          </a:p>
          <a:p>
            <a:pPr>
              <a:lnSpc>
                <a:spcPct val="102000"/>
              </a:lnSpc>
              <a:spcAft>
                <a:spcPts val="1200"/>
              </a:spcAft>
            </a:pPr>
            <a:r>
              <a:rPr sz="1400" b="0">
                <a:solidFill>
                  <a:srgbClr val="2F3337"/>
                </a:solidFill>
                <a:latin typeface="Arial"/>
              </a:rPr>
              <a:t>• Gold noninferiority passes, but does not establish specificity.</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H3: not supported — 3 pass, 5 fail. Primary cells were retained unchanged, not rerun for a better result.</a:t>
            </a:r>
          </a:p>
        </p:txBody>
      </p:sp>
    </p:spTree>
    <p:extLst>
      <p:ext uri="{BB962C8B-B14F-4D97-AF65-F5344CB8AC3E}">
        <p14:creationId xmlns:p14="http://schemas.microsoft.com/office/powerpoint/2010/main" val="400697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2251A-FE7F-D201-5A4D-A88E3E6AE73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7D1FB0B-66BC-7718-C6AD-85A0BE2646AE}"/>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The complete service matrix includes adverse load results</a:t>
            </a:r>
          </a:p>
        </p:txBody>
      </p:sp>
      <p:graphicFrame>
        <p:nvGraphicFramePr>
          <p:cNvPr id="4" name="Table 3"/>
          <p:cNvGraphicFramePr>
            <a:graphicFrameLocks noGrp="1"/>
          </p:cNvGraphicFramePr>
          <p:nvPr/>
        </p:nvGraphicFramePr>
        <p:xfrm>
          <a:off x="438912" y="1188720"/>
          <a:ext cx="8247886" cy="2743200"/>
        </p:xfrm>
        <a:graphic>
          <a:graphicData uri="http://schemas.openxmlformats.org/drawingml/2006/table">
            <a:tbl>
              <a:tblPr firstRow="1" bandRow="1">
                <a:tableStyleId>{5C22544A-7EE6-4342-B048-85BDC9FD1C3A}</a:tableStyleId>
              </a:tblPr>
              <a:tblGrid>
                <a:gridCol w="2474366"/>
                <a:gridCol w="1814535"/>
                <a:gridCol w="2226929"/>
                <a:gridCol w="1732056"/>
              </a:tblGrid>
              <a:tr h="457200">
                <a:tc>
                  <a:txBody>
                    <a:bodyPr/>
                    <a:lstStyle/>
                    <a:p>
                      <a:pPr>
                        <a:spcAft>
                          <a:spcPts val="0"/>
                        </a:spcAft>
                      </a:pPr>
                      <a:r>
                        <a:rPr sz="1300" b="1">
                          <a:solidFill>
                            <a:srgbClr val="053C5A"/>
                          </a:solidFill>
                          <a:latin typeface="Arial"/>
                        </a:rPr>
                        <a:t>Group</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Pooled p95 ms</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Errors / requests</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Physical calls</a:t>
                      </a:r>
                    </a:p>
                  </a:txBody>
                  <a:tcPr anchor="ctr" marL="64008" marR="64008" marT="27432" marB="27432">
                    <a:solidFill>
                      <a:srgbClr val="E9F3F7"/>
                    </a:solidFill>
                  </a:tcPr>
                </a:tc>
              </a:tr>
              <a:tr h="457200">
                <a:tc>
                  <a:txBody>
                    <a:bodyPr/>
                    <a:lstStyle/>
                    <a:p>
                      <a:pPr>
                        <a:spcAft>
                          <a:spcPts val="0"/>
                        </a:spcAft>
                      </a:pPr>
                      <a:r>
                        <a:rPr sz="1300" b="0">
                          <a:solidFill>
                            <a:srgbClr val="053C5A"/>
                          </a:solidFill>
                          <a:latin typeface="Arial"/>
                        </a:rPr>
                        <a:t>Fixed 1%, c1</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1.49</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0 / 50,000</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0%</a:t>
                      </a:r>
                    </a:p>
                  </a:txBody>
                  <a:tcPr anchor="ctr" marL="64008" marR="64008" marT="27432" marB="27432">
                    <a:solidFill>
                      <a:srgbClr val="FFFFFF"/>
                    </a:solidFill>
                  </a:tcPr>
                </a:tc>
              </a:tr>
              <a:tr h="457200">
                <a:tc>
                  <a:txBody>
                    <a:bodyPr/>
                    <a:lstStyle/>
                    <a:p>
                      <a:pPr>
                        <a:spcAft>
                          <a:spcPts val="0"/>
                        </a:spcAft>
                      </a:pPr>
                      <a:r>
                        <a:rPr sz="1300" b="0">
                          <a:solidFill>
                            <a:srgbClr val="053C5A"/>
                          </a:solidFill>
                          <a:latin typeface="Arial"/>
                        </a:rPr>
                        <a:t>Fixed 1%, c64</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364.30</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0 / 50,000</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0%</a:t>
                      </a:r>
                    </a:p>
                  </a:txBody>
                  <a:tcPr anchor="ctr" marL="64008" marR="64008" marT="27432" marB="27432">
                    <a:solidFill>
                      <a:srgbClr val="F4F7F9"/>
                    </a:solidFill>
                  </a:tcPr>
                </a:tc>
              </a:tr>
              <a:tr h="457200">
                <a:tc>
                  <a:txBody>
                    <a:bodyPr/>
                    <a:lstStyle/>
                    <a:p>
                      <a:pPr>
                        <a:spcAft>
                          <a:spcPts val="0"/>
                        </a:spcAft>
                      </a:pPr>
                      <a:r>
                        <a:rPr sz="1300" b="0">
                          <a:solidFill>
                            <a:srgbClr val="053C5A"/>
                          </a:solidFill>
                          <a:latin typeface="Arial"/>
                        </a:rPr>
                        <a:t>Transformer, c64</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476.34</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74 / 50,000</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99.88%</a:t>
                      </a:r>
                    </a:p>
                  </a:txBody>
                  <a:tcPr anchor="ctr" marL="64008" marR="64008" marT="27432" marB="27432">
                    <a:solidFill>
                      <a:srgbClr val="FFFFFF"/>
                    </a:solidFill>
                  </a:tcPr>
                </a:tc>
              </a:tr>
              <a:tr h="457200">
                <a:tc>
                  <a:txBody>
                    <a:bodyPr/>
                    <a:lstStyle/>
                    <a:p>
                      <a:pPr>
                        <a:spcAft>
                          <a:spcPts val="0"/>
                        </a:spcAft>
                      </a:pPr>
                      <a:r>
                        <a:rPr sz="1300" b="0">
                          <a:solidFill>
                            <a:srgbClr val="053C5A"/>
                          </a:solidFill>
                          <a:latin typeface="Arial"/>
                        </a:rPr>
                        <a:t>Transformer, c128</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970.86</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1,612 / 50,000</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96.964%</a:t>
                      </a:r>
                    </a:p>
                  </a:txBody>
                  <a:tcPr anchor="ctr" marL="64008" marR="64008" marT="27432" marB="27432">
                    <a:solidFill>
                      <a:srgbClr val="F4F7F9"/>
                    </a:solidFill>
                  </a:tcPr>
                </a:tc>
              </a:tr>
              <a:tr h="457200">
                <a:tc>
                  <a:txBody>
                    <a:bodyPr/>
                    <a:lstStyle/>
                    <a:p>
                      <a:pPr>
                        <a:spcAft>
                          <a:spcPts val="0"/>
                        </a:spcAft>
                      </a:pPr>
                      <a:r>
                        <a:rPr sz="1300" b="0">
                          <a:solidFill>
                            <a:srgbClr val="053C5A"/>
                          </a:solidFill>
                          <a:latin typeface="Arial"/>
                        </a:rPr>
                        <a:t>Live shift, c1</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11.58</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0 / 43,505</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94.851%</a:t>
                      </a:r>
                    </a:p>
                  </a:txBody>
                  <a:tcPr anchor="ctr" marL="64008" marR="64008" marT="27432" marB="27432">
                    <a:solidFill>
                      <a:srgbClr val="FFFFFF"/>
                    </a:solidFill>
                  </a:tcPr>
                </a:tc>
              </a:tr>
            </a:tbl>
          </a:graphicData>
        </a:graphic>
      </p:graphicFrame>
      <p:sp>
        <p:nvSpPr>
          <p:cNvPr id="5" name="TextBox 4"/>
          <p:cNvSpPr txBox="1"/>
          <p:nvPr/>
        </p:nvSpPr>
        <p:spPr>
          <a:xfrm>
            <a:off x="502920" y="4206240"/>
            <a:ext cx="8046720" cy="457200"/>
          </a:xfrm>
          <a:prstGeom prst="rect">
            <a:avLst/>
          </a:prstGeom>
          <a:noFill/>
        </p:spPr>
        <p:txBody>
          <a:bodyPr wrap="square" anchor="t" lIns="0" rIns="0" tIns="0" bIns="0">
            <a:spAutoFit/>
          </a:bodyPr>
          <a:lstStyle/>
          <a:p>
            <a:pPr algn="l"/>
            <a:r>
              <a:rPr sz="1600" b="1">
                <a:solidFill>
                  <a:srgbClr val="2F3337"/>
                </a:solidFill>
                <a:latin typeface="Arial"/>
              </a:rPr>
              <a:t>All 25 groups and five repeats retained; full matrix in appendices.</a:t>
            </a:r>
          </a:p>
        </p:txBody>
      </p:sp>
      <p:sp>
        <p:nvSpPr>
          <p:cNvPr id="6" name="Rounded Rectangle 5"/>
          <p:cNvSpPr/>
          <p:nvPr/>
        </p:nvSpPr>
        <p:spPr>
          <a:xfrm>
            <a:off x="438912" y="4864608"/>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10" b="1">
                <a:solidFill>
                  <a:srgbClr val="053C5A"/>
                </a:solidFill>
                <a:latin typeface="Arial"/>
              </a:rPr>
              <a:t>Closed-loop throughput is not production capacity. Under-100% transformer attempts can reflect failures.</a:t>
            </a:r>
          </a:p>
        </p:txBody>
      </p:sp>
    </p:spTree>
    <p:extLst>
      <p:ext uri="{BB962C8B-B14F-4D97-AF65-F5344CB8AC3E}">
        <p14:creationId xmlns:p14="http://schemas.microsoft.com/office/powerpoint/2010/main" val="2537828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F409D-E208-B956-811D-AD1CAF35407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0DC0854-81D6-852B-8C81-9E900B502FE1}"/>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Secondary evidence qualifies—not repairs—the primary result</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Completed coverage</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153 population/model records; all seeds and comparators.</a:t>
            </a:r>
          </a:p>
          <a:p>
            <a:pPr>
              <a:lnSpc>
                <a:spcPct val="102000"/>
              </a:lnSpc>
              <a:spcAft>
                <a:spcPts val="1200"/>
              </a:spcAft>
            </a:pPr>
            <a:r>
              <a:rPr sz="1400" b="0">
                <a:solidFill>
                  <a:srgbClr val="2F3337"/>
                </a:solidFill>
                <a:latin typeface="Arial"/>
              </a:rPr>
              <a:t>• 43 mixed-class metric sets; 430 calibration bins; 129 prevalence projections.</a:t>
            </a:r>
          </a:p>
          <a:p>
            <a:pPr>
              <a:lnSpc>
                <a:spcPct val="102000"/>
              </a:lnSpc>
              <a:spcAft>
                <a:spcPts val="1200"/>
              </a:spcAft>
            </a:pPr>
            <a:r>
              <a:rPr sz="1400" b="0">
                <a:solidFill>
                  <a:srgbClr val="2F3337"/>
                </a:solidFill>
                <a:latin typeface="Arial"/>
              </a:rPr>
              <a:t>• Full low-FPR curves, McNemar/Holm, MMD/PSI and label-free probes.</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Important qualifications</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RF certified FPR: 91.35%; no secondary model is promoted.</a:t>
            </a:r>
          </a:p>
          <a:p>
            <a:pPr>
              <a:lnSpc>
                <a:spcPct val="102000"/>
              </a:lnSpc>
              <a:spcAft>
                <a:spcPts val="1200"/>
              </a:spcAft>
            </a:pPr>
            <a:r>
              <a:rPr sz="1400" b="0">
                <a:solidFill>
                  <a:srgbClr val="2F3337"/>
                </a:solidFill>
                <a:latin typeface="Arial"/>
              </a:rPr>
              <a:t>• Source-only fit is unidentifiable; permutation audit limits remain explicit.</a:t>
            </a:r>
          </a:p>
          <a:p>
            <a:pPr>
              <a:lnSpc>
                <a:spcPct val="102000"/>
              </a:lnSpc>
              <a:spcAft>
                <a:spcPts val="1200"/>
              </a:spcAft>
            </a:pPr>
            <a:r>
              <a:rPr sz="1400" b="0">
                <a:solidFill>
                  <a:srgbClr val="2F3337"/>
                </a:solidFill>
                <a:latin typeface="Arial"/>
              </a:rPr>
              <a:t>• Seed 42 runtime differs; probes do not establish correctness or robustness.</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No best-seed selection, post-test threshold replacement or fabricated negative-control success.</a:t>
            </a:r>
          </a:p>
        </p:txBody>
      </p:sp>
    </p:spTree>
    <p:extLst>
      <p:ext uri="{BB962C8B-B14F-4D97-AF65-F5344CB8AC3E}">
        <p14:creationId xmlns:p14="http://schemas.microsoft.com/office/powerpoint/2010/main" val="2806567711"/>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One engineering process, with distinct evidence stages</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Design and evaluate</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Define URL, risk, routing and service contracts.</a:t>
            </a:r>
          </a:p>
          <a:p>
            <a:pPr>
              <a:lnSpc>
                <a:spcPct val="102000"/>
              </a:lnSpc>
              <a:spcAft>
                <a:spcPts val="1200"/>
              </a:spcAft>
            </a:pPr>
            <a:r>
              <a:rPr sz="1400" b="0">
                <a:solidFill>
                  <a:srgbClr val="2F3337"/>
                </a:solidFill>
                <a:latin typeface="Arial"/>
              </a:rPr>
              <a:t>• Measure all 22 primary checks and 25 operational groups.</a:t>
            </a:r>
          </a:p>
          <a:p>
            <a:pPr>
              <a:lnSpc>
                <a:spcPct val="102000"/>
              </a:lnSpc>
              <a:spcAft>
                <a:spcPts val="1200"/>
              </a:spcAft>
            </a:pPr>
            <a:r>
              <a:rPr sz="1400" b="0">
                <a:solidFill>
                  <a:srgbClr val="2F3337"/>
                </a:solidFill>
                <a:latin typeface="Arial"/>
              </a:rPr>
              <a:t>• Identify where component benefits meet or miss joint requirements.</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Diagnose and compare</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Trace scheme spelling through structural features.</a:t>
            </a:r>
          </a:p>
          <a:p>
            <a:pPr>
              <a:lnSpc>
                <a:spcPct val="102000"/>
              </a:lnSpc>
              <a:spcAft>
                <a:spcPts val="1200"/>
              </a:spcAft>
            </a:pPr>
            <a:r>
              <a:rPr sz="1400" b="0">
                <a:solidFill>
                  <a:srgbClr val="2F3337"/>
                </a:solidFill>
                <a:latin typeface="Arial"/>
              </a:rPr>
              <a:t>• Implement a transport-neutral representation; freeze its threshold.</a:t>
            </a:r>
          </a:p>
          <a:p>
            <a:pPr>
              <a:lnSpc>
                <a:spcPct val="102000"/>
              </a:lnSpc>
              <a:spcAft>
                <a:spcPts val="1200"/>
              </a:spcAft>
            </a:pPr>
            <a:r>
              <a:rPr sz="1400" b="0">
                <a:solidFill>
                  <a:srgbClr val="2F3337"/>
                </a:solidFill>
                <a:latin typeface="Arial"/>
              </a:rPr>
              <a:t>• Measure an additional benchmark; isolate HTTP client topology.</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Original H1–H3 remain unchanged. The bounded extension adds measured mechanism-level evidence, not rewritten history.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Diagnosis selects two bounded interventions</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Representation pathway</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Scheme affects is_https, length, ratios and entropy.</a:t>
            </a:r>
          </a:p>
          <a:p>
            <a:pPr>
              <a:lnSpc>
                <a:spcPct val="102000"/>
              </a:lnSpc>
              <a:spcAft>
                <a:spcPts val="1200"/>
              </a:spcAft>
            </a:pPr>
            <a:r>
              <a:rPr sz="1400" b="0">
                <a:solidFill>
                  <a:srgbClr val="2F3337"/>
                </a:solidFill>
                <a:latin typeface="Arial"/>
              </a:rPr>
              <a:t>• Dropping is_https alone does not remove scheme information.</a:t>
            </a:r>
          </a:p>
          <a:p>
            <a:pPr>
              <a:lnSpc>
                <a:spcPct val="102000"/>
              </a:lnSpc>
              <a:spcAft>
                <a:spcPts val="1200"/>
              </a:spcAft>
            </a:pPr>
            <a:r>
              <a:rPr sz="1400" b="0">
                <a:solidFill>
                  <a:srgbClr val="2F3337"/>
                </a:solidFill>
                <a:latin typeface="Arial"/>
              </a:rPr>
              <a:t>• Use one modeling prefix for every feature; omit is_https.</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Service pathway</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No-model diagnostics expose client/transport overhead.</a:t>
            </a:r>
          </a:p>
          <a:p>
            <a:pPr>
              <a:lnSpc>
                <a:spcPct val="102000"/>
              </a:lnSpc>
              <a:spcAft>
                <a:spcPts val="1200"/>
              </a:spcAft>
            </a:pPr>
            <a:r>
              <a:rPr sz="1400" b="0">
                <a:solidFill>
                  <a:srgbClr val="2F3337"/>
                </a:solidFill>
                <a:latin typeface="Arial"/>
              </a:rPr>
              <a:t>• Compare shared versus worker-owned persistent clients.</a:t>
            </a:r>
          </a:p>
          <a:p>
            <a:pPr>
              <a:lnSpc>
                <a:spcPct val="102000"/>
              </a:lnSpc>
              <a:spcAft>
                <a:spcPts val="1200"/>
              </a:spcAft>
            </a:pPr>
            <a:r>
              <a:rPr sz="1400" b="0">
                <a:solidFill>
                  <a:srgbClr val="2F3337"/>
                </a:solidFill>
                <a:latin typeface="Arial"/>
              </a:rPr>
              <a:t>• Keep service, scorer, inputs and request limits unchanged.</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Diagnostics motivate tests; they do not establish a single cause. Transformer, GMM and routing are not retuned.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Detection comparison: freeze first, evaluate every admitted row</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Additional benchmark</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Publisher 2020 benchmark: 11,430 source rows.</a:t>
            </a:r>
          </a:p>
          <a:p>
            <a:pPr>
              <a:lnSpc>
                <a:spcPct val="102000"/>
              </a:lnSpc>
              <a:spcAft>
                <a:spcPts val="1200"/>
              </a:spcAft>
            </a:pPr>
            <a:r>
              <a:rPr sz="1400" b="0">
                <a:solidFill>
                  <a:srgbClr val="2F3337"/>
                </a:solidFill>
                <a:latin typeface="Arial"/>
              </a:rPr>
              <a:t>• 8,622 admitted: P=4,651; N=3,971; 6,273 domains.</a:t>
            </a:r>
          </a:p>
          <a:p>
            <a:pPr>
              <a:lnSpc>
                <a:spcPct val="102000"/>
              </a:lnSpc>
              <a:spcAft>
                <a:spcPts val="1200"/>
              </a:spcAft>
            </a:pPr>
            <a:r>
              <a:rPr sz="1400" b="0">
                <a:solidFill>
                  <a:srgbClr val="2F3337"/>
                </a:solidFill>
                <a:latin typeface="Arial"/>
              </a:rPr>
              <a:t>• 2,808 exclusions; overlap and quarantine records retained.</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Fixed comparison</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Unchanged 25-feature L1 comparator and threshold.</a:t>
            </a:r>
          </a:p>
          <a:p>
            <a:pPr>
              <a:lnSpc>
                <a:spcPct val="102000"/>
              </a:lnSpc>
              <a:spcAft>
                <a:spcPts val="1200"/>
              </a:spcAft>
            </a:pPr>
            <a:r>
              <a:rPr sz="1400" b="0">
                <a:solidFill>
                  <a:srgbClr val="2F3337"/>
                </a:solidFill>
                <a:latin typeface="Arial"/>
              </a:rPr>
              <a:t>• 24-feature candidate: one fit; development-only calibration.</a:t>
            </a:r>
          </a:p>
          <a:p>
            <a:pPr>
              <a:lnSpc>
                <a:spcPct val="102000"/>
              </a:lnSpc>
              <a:spcAft>
                <a:spcPts val="1200"/>
              </a:spcAft>
            </a:pPr>
            <a:r>
              <a:rPr sz="1400" b="0">
                <a:solidFill>
                  <a:srgbClr val="2F3337"/>
                </a:solidFill>
                <a:latin typeface="Arial"/>
              </a:rPr>
              <a:t>• All admitted rows scored once; paired domain bootstrap.</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Retrospective, publisher-labeled comparison; shared upstream feeds. Domain exclusion is not temporal independence.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D: full operating-point tradeoff at the frozen thresholds</a:t>
            </a:r>
          </a:p>
        </p:txBody>
      </p:sp>
      <p:graphicFrame>
        <p:nvGraphicFramePr>
          <p:cNvPr id="4" name="Table 3"/>
          <p:cNvGraphicFramePr>
            <a:graphicFrameLocks noGrp="1"/>
          </p:cNvGraphicFramePr>
          <p:nvPr/>
        </p:nvGraphicFramePr>
        <p:xfrm>
          <a:off x="438912" y="1143000"/>
          <a:ext cx="8247886" cy="2788920"/>
        </p:xfrm>
        <a:graphic>
          <a:graphicData uri="http://schemas.openxmlformats.org/drawingml/2006/table">
            <a:tbl>
              <a:tblPr firstRow="1" bandRow="1">
                <a:tableStyleId>{5C22544A-7EE6-4342-B048-85BDC9FD1C3A}</a:tableStyleId>
              </a:tblPr>
              <a:tblGrid>
                <a:gridCol w="3464112"/>
                <a:gridCol w="2391887"/>
                <a:gridCol w="2391887"/>
              </a:tblGrid>
              <a:tr h="398417">
                <a:tc>
                  <a:txBody>
                    <a:bodyPr/>
                    <a:lstStyle/>
                    <a:p>
                      <a:pPr>
                        <a:spcAft>
                          <a:spcPts val="0"/>
                        </a:spcAft>
                      </a:pPr>
                      <a:r>
                        <a:rPr sz="1300" b="1">
                          <a:solidFill>
                            <a:srgbClr val="053C5A"/>
                          </a:solidFill>
                          <a:latin typeface="Arial"/>
                        </a:rPr>
                        <a:t>Metric</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Unchanged L1</a:t>
                      </a:r>
                    </a:p>
                  </a:txBody>
                  <a:tcPr anchor="ctr" marL="64008" marR="64008" marT="27432" marB="27432">
                    <a:solidFill>
                      <a:srgbClr val="E9F3F7"/>
                    </a:solidFill>
                  </a:tcPr>
                </a:tc>
                <a:tc>
                  <a:txBody>
                    <a:bodyPr/>
                    <a:lstStyle/>
                    <a:p>
                      <a:pPr>
                        <a:spcAft>
                          <a:spcPts val="0"/>
                        </a:spcAft>
                      </a:pPr>
                      <a:r>
                        <a:rPr sz="1300" b="1">
                          <a:solidFill>
                            <a:srgbClr val="053C5A"/>
                          </a:solidFill>
                          <a:latin typeface="Arial"/>
                        </a:rPr>
                        <a:t>Scheme-neutral</a:t>
                      </a:r>
                    </a:p>
                  </a:txBody>
                  <a:tcPr anchor="ctr" marL="64008" marR="64008" marT="27432" marB="27432">
                    <a:solidFill>
                      <a:srgbClr val="E9F3F7"/>
                    </a:solidFill>
                  </a:tcPr>
                </a:tc>
              </a:tr>
              <a:tr h="398417">
                <a:tc>
                  <a:txBody>
                    <a:bodyPr/>
                    <a:lstStyle/>
                    <a:p>
                      <a:pPr>
                        <a:spcAft>
                          <a:spcPts val="0"/>
                        </a:spcAft>
                      </a:pPr>
                      <a:r>
                        <a:rPr sz="1300" b="0">
                          <a:solidFill>
                            <a:srgbClr val="053C5A"/>
                          </a:solidFill>
                          <a:latin typeface="Arial"/>
                        </a:rPr>
                        <a:t>Recall</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99.31%</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95.36%</a:t>
                      </a:r>
                    </a:p>
                  </a:txBody>
                  <a:tcPr anchor="ctr" marL="64008" marR="64008" marT="27432" marB="27432">
                    <a:solidFill>
                      <a:srgbClr val="FFFFFF"/>
                    </a:solidFill>
                  </a:tcPr>
                </a:tc>
              </a:tr>
              <a:tr h="398417">
                <a:tc>
                  <a:txBody>
                    <a:bodyPr/>
                    <a:lstStyle/>
                    <a:p>
                      <a:pPr>
                        <a:spcAft>
                          <a:spcPts val="0"/>
                        </a:spcAft>
                      </a:pPr>
                      <a:r>
                        <a:rPr sz="1300" b="0">
                          <a:solidFill>
                            <a:srgbClr val="053C5A"/>
                          </a:solidFill>
                          <a:latin typeface="Arial"/>
                        </a:rPr>
                        <a:t>False-positive rate</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99.22%</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92.90%</a:t>
                      </a:r>
                    </a:p>
                  </a:txBody>
                  <a:tcPr anchor="ctr" marL="64008" marR="64008" marT="27432" marB="27432">
                    <a:solidFill>
                      <a:srgbClr val="F4F7F9"/>
                    </a:solidFill>
                  </a:tcPr>
                </a:tc>
              </a:tr>
              <a:tr h="398417">
                <a:tc>
                  <a:txBody>
                    <a:bodyPr/>
                    <a:lstStyle/>
                    <a:p>
                      <a:pPr>
                        <a:spcAft>
                          <a:spcPts val="0"/>
                        </a:spcAft>
                      </a:pPr>
                      <a:r>
                        <a:rPr sz="1300" b="0">
                          <a:solidFill>
                            <a:srgbClr val="053C5A"/>
                          </a:solidFill>
                          <a:latin typeface="Arial"/>
                        </a:rPr>
                        <a:t>Precision</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53.97%</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54.59%</a:t>
                      </a:r>
                    </a:p>
                  </a:txBody>
                  <a:tcPr anchor="ctr" marL="64008" marR="64008" marT="27432" marB="27432">
                    <a:solidFill>
                      <a:srgbClr val="FFFFFF"/>
                    </a:solidFill>
                  </a:tcPr>
                </a:tc>
              </a:tr>
              <a:tr h="398417">
                <a:tc>
                  <a:txBody>
                    <a:bodyPr/>
                    <a:lstStyle/>
                    <a:p>
                      <a:pPr>
                        <a:spcAft>
                          <a:spcPts val="0"/>
                        </a:spcAft>
                      </a:pPr>
                      <a:r>
                        <a:rPr sz="1300" b="0">
                          <a:solidFill>
                            <a:srgbClr val="053C5A"/>
                          </a:solidFill>
                          <a:latin typeface="Arial"/>
                        </a:rPr>
                        <a:t>ROC AUC</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0.6821</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0.6950</a:t>
                      </a:r>
                    </a:p>
                  </a:txBody>
                  <a:tcPr anchor="ctr" marL="64008" marR="64008" marT="27432" marB="27432">
                    <a:solidFill>
                      <a:srgbClr val="F4F7F9"/>
                    </a:solidFill>
                  </a:tcPr>
                </a:tc>
              </a:tr>
              <a:tr h="398417">
                <a:tc>
                  <a:txBody>
                    <a:bodyPr/>
                    <a:lstStyle/>
                    <a:p>
                      <a:pPr>
                        <a:spcAft>
                          <a:spcPts val="0"/>
                        </a:spcAft>
                      </a:pPr>
                      <a:r>
                        <a:rPr sz="1300" b="0">
                          <a:solidFill>
                            <a:srgbClr val="053C5A"/>
                          </a:solidFill>
                          <a:latin typeface="Arial"/>
                        </a:rPr>
                        <a:t>Average precision</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0.6651</a:t>
                      </a:r>
                    </a:p>
                  </a:txBody>
                  <a:tcPr anchor="ctr" marL="64008" marR="64008" marT="27432" marB="27432">
                    <a:solidFill>
                      <a:srgbClr val="FFFFFF"/>
                    </a:solidFill>
                  </a:tcPr>
                </a:tc>
                <a:tc>
                  <a:txBody>
                    <a:bodyPr/>
                    <a:lstStyle/>
                    <a:p>
                      <a:pPr>
                        <a:spcAft>
                          <a:spcPts val="0"/>
                        </a:spcAft>
                      </a:pPr>
                      <a:r>
                        <a:rPr sz="1300" b="0">
                          <a:solidFill>
                            <a:srgbClr val="053C5A"/>
                          </a:solidFill>
                          <a:latin typeface="Arial"/>
                        </a:rPr>
                        <a:t>0.6976</a:t>
                      </a:r>
                    </a:p>
                  </a:txBody>
                  <a:tcPr anchor="ctr" marL="64008" marR="64008" marT="27432" marB="27432">
                    <a:solidFill>
                      <a:srgbClr val="FFFFFF"/>
                    </a:solidFill>
                  </a:tcPr>
                </a:tc>
              </a:tr>
              <a:tr h="398418">
                <a:tc>
                  <a:txBody>
                    <a:bodyPr/>
                    <a:lstStyle/>
                    <a:p>
                      <a:pPr>
                        <a:spcAft>
                          <a:spcPts val="0"/>
                        </a:spcAft>
                      </a:pPr>
                      <a:r>
                        <a:rPr sz="1300" b="0">
                          <a:solidFill>
                            <a:srgbClr val="053C5A"/>
                          </a:solidFill>
                          <a:latin typeface="Arial"/>
                        </a:rPr>
                        <a:t>Brier score</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0.4306</a:t>
                      </a:r>
                    </a:p>
                  </a:txBody>
                  <a:tcPr anchor="ctr" marL="64008" marR="64008" marT="27432" marB="27432">
                    <a:solidFill>
                      <a:srgbClr val="F4F7F9"/>
                    </a:solidFill>
                  </a:tcPr>
                </a:tc>
                <a:tc>
                  <a:txBody>
                    <a:bodyPr/>
                    <a:lstStyle/>
                    <a:p>
                      <a:pPr>
                        <a:spcAft>
                          <a:spcPts val="0"/>
                        </a:spcAft>
                      </a:pPr>
                      <a:r>
                        <a:rPr sz="1300" b="0">
                          <a:solidFill>
                            <a:srgbClr val="053C5A"/>
                          </a:solidFill>
                          <a:latin typeface="Arial"/>
                        </a:rPr>
                        <a:t>0.4077</a:t>
                      </a:r>
                    </a:p>
                  </a:txBody>
                  <a:tcPr anchor="ctr" marL="64008" marR="64008" marT="27432" marB="27432">
                    <a:solidFill>
                      <a:srgbClr val="F4F7F9"/>
                    </a:solidFill>
                  </a:tcPr>
                </a:tc>
              </a:tr>
            </a:tbl>
          </a:graphicData>
        </a:graphic>
      </p:graphicFrame>
      <p:sp>
        <p:nvSpPr>
          <p:cNvPr id="5" name="TextBox 4"/>
          <p:cNvSpPr txBox="1"/>
          <p:nvPr/>
        </p:nvSpPr>
        <p:spPr>
          <a:xfrm>
            <a:off x="502920" y="4050791"/>
            <a:ext cx="8046720" cy="640080"/>
          </a:xfrm>
          <a:prstGeom prst="rect">
            <a:avLst/>
          </a:prstGeom>
          <a:noFill/>
        </p:spPr>
        <p:txBody>
          <a:bodyPr wrap="square" anchor="t" lIns="0" rIns="0" tIns="0" bIns="0">
            <a:spAutoFit/>
          </a:bodyPr>
          <a:lstStyle/>
          <a:p>
            <a:pPr algn="l"/>
            <a:r>
              <a:rPr sz="1500" b="1">
                <a:solidFill>
                  <a:srgbClr val="2F3337"/>
                </a:solidFill>
                <a:latin typeface="Arial"/>
              </a:rPr>
              <a:t>251 fewer false positives; 184 fewer detected positives.</a:t>
            </a:r>
            <a:br/>
            <a:r>
              <a:rPr sz="1500" b="1">
                <a:solidFill>
                  <a:srgbClr val="2F3337"/>
                </a:solidFill>
                <a:latin typeface="Arial"/>
              </a:rPr>
              <a:t>D: not supported — recall gain and the 1% FPR requirement are not met.</a:t>
            </a:r>
          </a:p>
        </p:txBody>
      </p:sp>
      <p:sp>
        <p:nvSpPr>
          <p:cNvPr id="6" name="Rounded Rectangle 5"/>
          <p:cNvSpPr/>
          <p:nvPr/>
        </p:nvSpPr>
        <p:spPr>
          <a:xfrm>
            <a:off x="438912" y="4864608"/>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00" b="1">
                <a:solidFill>
                  <a:srgbClr val="053C5A"/>
                </a:solidFill>
                <a:latin typeface="Arial"/>
              </a:rPr>
              <a:t>Recall difference −3.96 pp; 97.5% domain-cluster interval [−5.05, −3.00] pp. No threshold retuning.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Achieved property: exact scheme invariance</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Prescribed metamorphic check</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Swap HTTP ↔ HTTPS; keep the remainder unchanged.</a:t>
            </a:r>
          </a:p>
          <a:p>
            <a:pPr>
              <a:lnSpc>
                <a:spcPct val="102000"/>
              </a:lnSpc>
              <a:spcAft>
                <a:spcPts val="1200"/>
              </a:spcAft>
            </a:pPr>
            <a:r>
              <a:rPr sz="1400" b="0">
                <a:solidFill>
                  <a:srgbClr val="2F3337"/>
                </a:solidFill>
                <a:latin typeface="Arial"/>
              </a:rPr>
              <a:t>• Candidate features and scores match on 8,622 / 8,622 pairs.</a:t>
            </a:r>
          </a:p>
          <a:p>
            <a:pPr>
              <a:lnSpc>
                <a:spcPct val="102000"/>
              </a:lnSpc>
              <a:spcAft>
                <a:spcPts val="1200"/>
              </a:spcAft>
            </a:pPr>
            <a:r>
              <a:rPr sz="1400" b="0">
                <a:solidFill>
                  <a:srgbClr val="2F3337"/>
                </a:solidFill>
                <a:latin typeface="Arial"/>
              </a:rPr>
              <a:t>• Candidate decisions: zero flips.</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What the comparison establishes</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Unchanged L1: 481 decision flips; 2,909 exact score matches.</a:t>
            </a:r>
          </a:p>
          <a:p>
            <a:pPr>
              <a:lnSpc>
                <a:spcPct val="102000"/>
              </a:lnSpc>
              <a:spcAft>
                <a:spcPts val="1200"/>
              </a:spcAft>
            </a:pPr>
            <a:r>
              <a:rPr sz="1400" b="0">
                <a:solidFill>
                  <a:srgbClr val="2F3337"/>
                </a:solidFill>
                <a:latin typeface="Arial"/>
              </a:rPr>
              <a:t>• The modified feature path removes the intended dependency.</a:t>
            </a:r>
          </a:p>
          <a:p>
            <a:pPr>
              <a:lnSpc>
                <a:spcPct val="102000"/>
              </a:lnSpc>
              <a:spcAft>
                <a:spcPts val="1200"/>
              </a:spcAft>
            </a:pPr>
            <a:r>
              <a:rPr sz="1400" b="0">
                <a:solidFill>
                  <a:srgbClr val="2F3337"/>
                </a:solidFill>
                <a:latin typeface="Arial"/>
              </a:rPr>
              <a:t>• Stable representation alone does not ensure low-FPR transfer.</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Companions test representation, not additional labeled websites. Comparator flips are not automatically classification errors.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Measured service improvement; strict contract distinguished</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Primary structural workload, c64</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Median paired p95 ratio: 0.20325 (79.68% reduction).</a:t>
            </a:r>
          </a:p>
          <a:p>
            <a:pPr>
              <a:lnSpc>
                <a:spcPct val="102000"/>
              </a:lnSpc>
              <a:spcAft>
                <a:spcPts val="1200"/>
              </a:spcAft>
            </a:pPr>
            <a:r>
              <a:rPr sz="1400" b="0">
                <a:solidFill>
                  <a:srgbClr val="2F3337"/>
                </a:solidFill>
                <a:latin typeface="Arial"/>
              </a:rPr>
              <a:t>• 97.5% interval: [0.18790, 0.21351].</a:t>
            </a:r>
          </a:p>
          <a:p>
            <a:pPr>
              <a:lnSpc>
                <a:spcPct val="102000"/>
              </a:lnSpc>
              <a:spcAft>
                <a:spcPts val="1200"/>
              </a:spcAft>
            </a:pPr>
            <a:r>
              <a:rPr sz="1400" b="0">
                <a:solidFill>
                  <a:srgbClr val="2F3337"/>
                </a:solidFill>
                <a:latin typeface="Arial"/>
              </a:rPr>
              <a:t>• Worker p95: 72.00 ms; zero errors / 100,000.</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Prediction versus response order</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99,999 / 99,999 comparable predictions agree.</a:t>
            </a:r>
          </a:p>
          <a:p>
            <a:pPr>
              <a:lnSpc>
                <a:spcPct val="102000"/>
              </a:lnSpc>
              <a:spcAft>
                <a:spcPts val="1200"/>
              </a:spcAft>
            </a:pPr>
            <a:r>
              <a:rPr sz="1400" b="0">
                <a:solidFill>
                  <a:srgbClr val="2F3337"/>
                </a:solidFill>
                <a:latin typeface="Arial"/>
              </a:rPr>
              <a:t>• One shared timeout leaves one pair noncomparable.</a:t>
            </a:r>
          </a:p>
          <a:p>
            <a:pPr>
              <a:lnSpc>
                <a:spcPct val="102000"/>
              </a:lnSpc>
              <a:spcAft>
                <a:spcPts val="1200"/>
              </a:spcAft>
            </a:pPr>
            <a:r>
              <a:rPr sz="1400" b="0">
                <a:solidFill>
                  <a:srgbClr val="2F3337"/>
                </a:solidFill>
                <a:latin typeface="Arial"/>
              </a:rPr>
              <a:t>• Strict agreement: 799 / 100,000; ordering differs.</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Four of five S requirements pass. S is not supported as a conjunction; original H3 is unchanged.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82E14-D80D-22DA-FC44-A7B9A77CB5D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1650CF4-65ED-1E79-DBFE-B1CF451E9304}"/>
              </a:ext>
            </a:extLst>
          </p:cNvPr>
          <p:cNvSpPr>
            <a:spLocks noGrp="1"/>
          </p:cNvSpPr>
          <p:nvPr>
            <p:ph type="title"/>
          </p:nvPr>
        </p:nvSpPr>
        <p:spPr>
          <a:xfrm>
            <a:off x="438912" y="201168"/>
            <a:ext cx="8247888" cy="777240"/>
          </a:xfrm>
        </p:spPr>
        <p:txBody>
          <a:bodyPr/>
          <a:lstStyle/>
          <a:p>
            <a:pPr algn="l"/>
            <a:r>
              <a:rPr sz="2300" b="1">
                <a:solidFill>
                  <a:srgbClr val="2F3337"/>
                </a:solidFill>
                <a:latin typeface="Arial"/>
              </a:rPr>
              <a:t>Technical contribution: measured changes, explicit contracts</a:t>
            </a:r>
            <a:endParaRPr lang="en-US" sz="2400" dirty="0"/>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What the artifact demonstrates</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Structural representation: +64.07 pp internal recall.</a:t>
            </a:r>
          </a:p>
          <a:p>
            <a:pPr>
              <a:lnSpc>
                <a:spcPct val="102000"/>
              </a:lnSpc>
              <a:spcAft>
                <a:spcPts val="1200"/>
              </a:spcAft>
            </a:pPr>
            <a:r>
              <a:rPr sz="1400" b="0">
                <a:solidFill>
                  <a:srgbClr val="2F3337"/>
                </a:solidFill>
                <a:latin typeface="Arial"/>
              </a:rPr>
              <a:t>• Scheme-neutral inputs: exact invariance on 8,622 pairs.</a:t>
            </a:r>
          </a:p>
          <a:p>
            <a:pPr>
              <a:lnSpc>
                <a:spcPct val="102000"/>
              </a:lnSpc>
              <a:spcAft>
                <a:spcPts val="1200"/>
              </a:spcAft>
            </a:pPr>
            <a:r>
              <a:rPr sz="1400" b="0">
                <a:solidFill>
                  <a:srgbClr val="2F3337"/>
                </a:solidFill>
                <a:latin typeface="Arial"/>
              </a:rPr>
              <a:t>• Worker-owned clients: 79.68% paired p95 reduction.</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What the evidence distinguishes</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Representation stability versus external low-FPR detection.</a:t>
            </a:r>
          </a:p>
          <a:p>
            <a:pPr>
              <a:lnSpc>
                <a:spcPct val="102000"/>
              </a:lnSpc>
              <a:spcAft>
                <a:spcPts val="1200"/>
              </a:spcAft>
            </a:pPr>
            <a:r>
              <a:rPr sz="1400" b="0">
                <a:solidFill>
                  <a:srgbClr val="2F3337"/>
                </a:solidFill>
                <a:latin typeface="Arial"/>
              </a:rPr>
              <a:t>• Shift sensitivity versus useful escalation after the alarm.</a:t>
            </a:r>
          </a:p>
          <a:p>
            <a:pPr>
              <a:lnSpc>
                <a:spcPct val="102000"/>
              </a:lnSpc>
              <a:spcAft>
                <a:spcPts val="1200"/>
              </a:spcAft>
            </a:pPr>
            <a:r>
              <a:rPr sz="1400" b="0">
                <a:solidFill>
                  <a:srgbClr val="2F3337"/>
                </a:solidFill>
                <a:latin typeface="Arial"/>
              </a:rPr>
              <a:t>• Prediction equivalence versus admission-order equivalence.</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Reusable artifact and evaluation contracts; no invention claim for normalization, regression or connection reuse.</a:t>
            </a:r>
          </a:p>
        </p:txBody>
      </p:sp>
    </p:spTree>
    <p:extLst>
      <p:ext uri="{BB962C8B-B14F-4D97-AF65-F5344CB8AC3E}">
        <p14:creationId xmlns:p14="http://schemas.microsoft.com/office/powerpoint/2010/main" val="3377947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Completed research and dissertation evidence</a:t>
            </a:r>
          </a:p>
        </p:txBody>
      </p:sp>
      <p:sp>
        <p:nvSpPr>
          <p:cNvPr id="4" name="Rounded Rectangle 3"/>
          <p:cNvSpPr/>
          <p:nvPr/>
        </p:nvSpPr>
        <p:spPr>
          <a:xfrm>
            <a:off x="438912"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3" y="1115568"/>
            <a:ext cx="3648456" cy="292608"/>
          </a:xfrm>
          <a:prstGeom prst="rect">
            <a:avLst/>
          </a:prstGeom>
          <a:noFill/>
        </p:spPr>
        <p:txBody>
          <a:bodyPr wrap="square" anchor="t" lIns="0" rIns="0" tIns="0" bIns="0">
            <a:spAutoFit/>
          </a:bodyPr>
          <a:lstStyle/>
          <a:p>
            <a:pPr algn="l"/>
            <a:r>
              <a:rPr sz="1300" b="1">
                <a:solidFill>
                  <a:srgbClr val="053C5A"/>
                </a:solidFill>
                <a:latin typeface="Arial"/>
              </a:rPr>
              <a:t>Original commitments delivered</a:t>
            </a:r>
          </a:p>
        </p:txBody>
      </p:sp>
      <p:sp>
        <p:nvSpPr>
          <p:cNvPr id="6" name="TextBox 5"/>
          <p:cNvSpPr txBox="1"/>
          <p:nvPr/>
        </p:nvSpPr>
        <p:spPr>
          <a:xfrm>
            <a:off x="621792"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All 125 cells, 25 operational groups and 22 primary checks.</a:t>
            </a:r>
          </a:p>
          <a:p>
            <a:pPr>
              <a:lnSpc>
                <a:spcPct val="102000"/>
              </a:lnSpc>
              <a:spcAft>
                <a:spcPts val="1200"/>
              </a:spcAft>
            </a:pPr>
            <a:r>
              <a:rPr sz="1400" b="0">
                <a:solidFill>
                  <a:srgbClr val="2F3337"/>
                </a:solidFill>
                <a:latin typeface="Arial"/>
              </a:rPr>
              <a:t>• Direct RQ1–RQ3 answers; explicit H1–H3 decisions.</a:t>
            </a:r>
          </a:p>
          <a:p>
            <a:pPr>
              <a:lnSpc>
                <a:spcPct val="102000"/>
              </a:lnSpc>
              <a:spcAft>
                <a:spcPts val="1200"/>
              </a:spcAft>
            </a:pPr>
            <a:r>
              <a:rPr sz="1400" b="0">
                <a:solidFill>
                  <a:srgbClr val="2F3337"/>
                </a:solidFill>
                <a:latin typeface="Arial"/>
              </a:rPr>
              <a:t>• Secondary analyses, raw-count tables and audit limits.</a:t>
            </a:r>
          </a:p>
        </p:txBody>
      </p:sp>
      <p:sp>
        <p:nvSpPr>
          <p:cNvPr id="7" name="Rounded Rectangle 6"/>
          <p:cNvSpPr/>
          <p:nvPr/>
        </p:nvSpPr>
        <p:spPr>
          <a:xfrm>
            <a:off x="4727448" y="1024128"/>
            <a:ext cx="3977639" cy="3639312"/>
          </a:xfrm>
          <a:prstGeom prst="roundRect">
            <a:avLst>
              <a:gd name="adj" fmla="val 8000"/>
            </a:avLst>
          </a:prstGeom>
          <a:solidFill>
            <a:srgbClr val="F4F7F9"/>
          </a:solidFill>
          <a:ln w="10160">
            <a:solidFill>
              <a:srgbClr val="D6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115568"/>
            <a:ext cx="3648456" cy="292608"/>
          </a:xfrm>
          <a:prstGeom prst="rect">
            <a:avLst/>
          </a:prstGeom>
          <a:noFill/>
        </p:spPr>
        <p:txBody>
          <a:bodyPr wrap="square" anchor="t" lIns="0" rIns="0" tIns="0" bIns="0">
            <a:spAutoFit/>
          </a:bodyPr>
          <a:lstStyle/>
          <a:p>
            <a:pPr algn="l"/>
            <a:r>
              <a:rPr sz="1300" b="1">
                <a:solidFill>
                  <a:srgbClr val="053C5A"/>
                </a:solidFill>
                <a:latin typeface="Arial"/>
              </a:rPr>
              <a:t>Iteration and final artifacts</a:t>
            </a:r>
          </a:p>
        </p:txBody>
      </p:sp>
      <p:sp>
        <p:nvSpPr>
          <p:cNvPr id="9" name="TextBox 8"/>
          <p:cNvSpPr txBox="1"/>
          <p:nvPr/>
        </p:nvSpPr>
        <p:spPr>
          <a:xfrm>
            <a:off x="4910328" y="1463040"/>
            <a:ext cx="3611879" cy="3108960"/>
          </a:xfrm>
          <a:prstGeom prst="rect">
            <a:avLst/>
          </a:prstGeom>
          <a:noFill/>
        </p:spPr>
        <p:txBody>
          <a:bodyPr wrap="square" anchor="t" lIns="0" rIns="0" tIns="0" bIns="0">
            <a:spAutoFit/>
          </a:bodyPr>
          <a:lstStyle/>
          <a:p>
            <a:pPr>
              <a:lnSpc>
                <a:spcPct val="102000"/>
              </a:lnSpc>
              <a:spcAft>
                <a:spcPts val="1200"/>
              </a:spcAft>
            </a:pPr>
            <a:r>
              <a:rPr sz="1400" b="0">
                <a:solidFill>
                  <a:srgbClr val="2F3337"/>
                </a:solidFill>
                <a:latin typeface="Arial"/>
              </a:rPr>
              <a:t>• D: all 8,622 rows and companions; no retuning.</a:t>
            </a:r>
          </a:p>
          <a:p>
            <a:pPr>
              <a:lnSpc>
                <a:spcPct val="102000"/>
              </a:lnSpc>
              <a:spcAft>
                <a:spcPts val="1200"/>
              </a:spcAft>
            </a:pPr>
            <a:r>
              <a:rPr sz="1400" b="0">
                <a:solidFill>
                  <a:srgbClr val="2F3337"/>
                </a:solidFill>
                <a:latin typeface="Arial"/>
              </a:rPr>
              <a:t>• S: all 80 arms; independent saved-evidence recomputation.</a:t>
            </a:r>
          </a:p>
          <a:p>
            <a:pPr>
              <a:lnSpc>
                <a:spcPct val="102000"/>
              </a:lnSpc>
              <a:spcAft>
                <a:spcPts val="1200"/>
              </a:spcAft>
            </a:pPr>
            <a:r>
              <a:rPr sz="1400" b="0">
                <a:solidFill>
                  <a:srgbClr val="2F3337"/>
                </a:solidFill>
                <a:latin typeface="Arial"/>
              </a:rPr>
              <a:t>• GWU manuscript, editable deck, aggregates and provenance.</a:t>
            </a:r>
          </a:p>
        </p:txBody>
      </p:sp>
      <p:sp>
        <p:nvSpPr>
          <p:cNvPr id="10" name="Rounded Rectangle 9"/>
          <p:cNvSpPr/>
          <p:nvPr/>
        </p:nvSpPr>
        <p:spPr>
          <a:xfrm>
            <a:off x="438912" y="4864608"/>
            <a:ext cx="8247888" cy="521207"/>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30" b="1">
                <a:solidFill>
                  <a:srgbClr val="053C5A"/>
                </a:solidFill>
                <a:latin typeface="Arial"/>
              </a:rPr>
              <a:t>All adverse results and interruptions retained. Research completion is not institutional acceptance.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Appendix: every H1 gate</a:t>
            </a:r>
          </a:p>
        </p:txBody>
      </p:sp>
      <p:graphicFrame>
        <p:nvGraphicFramePr>
          <p:cNvPr id="4" name="Table 3"/>
          <p:cNvGraphicFramePr>
            <a:graphicFrameLocks noGrp="1"/>
          </p:cNvGraphicFramePr>
          <p:nvPr/>
        </p:nvGraphicFramePr>
        <p:xfrm>
          <a:off x="438912" y="1188720"/>
          <a:ext cx="8247885" cy="3566160"/>
        </p:xfrm>
        <a:graphic>
          <a:graphicData uri="http://schemas.openxmlformats.org/drawingml/2006/table">
            <a:tbl>
              <a:tblPr firstRow="1" bandRow="1">
                <a:tableStyleId>{5C22544A-7EE6-4342-B048-85BDC9FD1C3A}</a:tableStyleId>
              </a:tblPr>
              <a:tblGrid>
                <a:gridCol w="4288901"/>
                <a:gridCol w="1484619"/>
                <a:gridCol w="1484619"/>
                <a:gridCol w="989746"/>
              </a:tblGrid>
              <a:tr h="324196">
                <a:tc>
                  <a:txBody>
                    <a:bodyPr/>
                    <a:lstStyle/>
                    <a:p>
                      <a:pPr>
                        <a:spcAft>
                          <a:spcPts val="0"/>
                        </a:spcAft>
                      </a:pPr>
                      <a:r>
                        <a:rPr sz="1100" b="1">
                          <a:solidFill>
                            <a:srgbClr val="053C5A"/>
                          </a:solidFill>
                          <a:latin typeface="Arial"/>
                        </a:rPr>
                        <a:t>Gate</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Operand</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Required</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Result</a:t>
                      </a:r>
                    </a:p>
                  </a:txBody>
                  <a:tcPr anchor="ctr" marL="64008" marR="64008" marT="27432" marB="27432">
                    <a:solidFill>
                      <a:srgbClr val="E9F3F7"/>
                    </a:solidFill>
                  </a:tcPr>
                </a:tc>
              </a:tr>
              <a:tr h="324196">
                <a:tc>
                  <a:txBody>
                    <a:bodyPr/>
                    <a:lstStyle/>
                    <a:p>
                      <a:pPr>
                        <a:spcAft>
                          <a:spcPts val="0"/>
                        </a:spcAft>
                      </a:pPr>
                      <a:r>
                        <a:rPr sz="1100" b="0">
                          <a:solidFill>
                            <a:srgbClr val="053C5A"/>
                          </a:solidFill>
                          <a:latin typeface="Arial"/>
                        </a:rPr>
                        <a:t>internal.length only.fpr</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0.5872%</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FFFFF"/>
                    </a:solidFill>
                  </a:tcPr>
                </a:tc>
              </a:tr>
              <a:tr h="324196">
                <a:tc>
                  <a:txBody>
                    <a:bodyPr/>
                    <a:lstStyle/>
                    <a:p>
                      <a:pPr>
                        <a:spcAft>
                          <a:spcPts val="0"/>
                        </a:spcAft>
                      </a:pPr>
                      <a:r>
                        <a:rPr sz="1100" b="0">
                          <a:solidFill>
                            <a:srgbClr val="053C5A"/>
                          </a:solidFill>
                          <a:latin typeface="Arial"/>
                        </a:rPr>
                        <a:t>internal.logistic l1.fpr</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0.7747%</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4F7F9"/>
                    </a:solidFill>
                  </a:tcPr>
                </a:tc>
              </a:tr>
              <a:tr h="324196">
                <a:tc>
                  <a:txBody>
                    <a:bodyPr/>
                    <a:lstStyle/>
                    <a:p>
                      <a:pPr>
                        <a:spcAft>
                          <a:spcPts val="0"/>
                        </a:spcAft>
                      </a:pPr>
                      <a:r>
                        <a:rPr sz="1100" b="0">
                          <a:solidFill>
                            <a:srgbClr val="053C5A"/>
                          </a:solidFill>
                          <a:latin typeface="Arial"/>
                        </a:rPr>
                        <a:t>internal.cascade.fpr</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0.7747%</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FFFFF"/>
                    </a:solidFill>
                  </a:tcPr>
                </a:tc>
              </a:tr>
              <a:tr h="324196">
                <a:tc>
                  <a:txBody>
                    <a:bodyPr/>
                    <a:lstStyle/>
                    <a:p>
                      <a:pPr>
                        <a:spcAft>
                          <a:spcPts val="0"/>
                        </a:spcAft>
                      </a:pPr>
                      <a:r>
                        <a:rPr sz="1100" b="0">
                          <a:solidFill>
                            <a:srgbClr val="053C5A"/>
                          </a:solidFill>
                          <a:latin typeface="Arial"/>
                        </a:rPr>
                        <a:t>certified.length only.fpr</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9.4513%</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4F7F9"/>
                    </a:solidFill>
                  </a:tcPr>
                </a:tc>
              </a:tr>
              <a:tr h="324196">
                <a:tc>
                  <a:txBody>
                    <a:bodyPr/>
                    <a:lstStyle/>
                    <a:p>
                      <a:pPr>
                        <a:spcAft>
                          <a:spcPts val="0"/>
                        </a:spcAft>
                      </a:pPr>
                      <a:r>
                        <a:rPr sz="1100" b="0">
                          <a:solidFill>
                            <a:srgbClr val="053C5A"/>
                          </a:solidFill>
                          <a:latin typeface="Arial"/>
                        </a:rPr>
                        <a:t>certified.logistic l1.fpr</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90.5487%</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FFFFF"/>
                    </a:solidFill>
                  </a:tcPr>
                </a:tc>
              </a:tr>
              <a:tr h="324196">
                <a:tc>
                  <a:txBody>
                    <a:bodyPr/>
                    <a:lstStyle/>
                    <a:p>
                      <a:pPr>
                        <a:spcAft>
                          <a:spcPts val="0"/>
                        </a:spcAft>
                      </a:pPr>
                      <a:r>
                        <a:rPr sz="1100" b="0">
                          <a:solidFill>
                            <a:srgbClr val="053C5A"/>
                          </a:solidFill>
                          <a:latin typeface="Arial"/>
                        </a:rPr>
                        <a:t>certified.cascade.fpr</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90.5487%</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4F7F9"/>
                    </a:solidFill>
                  </a:tcPr>
                </a:tc>
              </a:tr>
              <a:tr h="324196">
                <a:tc>
                  <a:txBody>
                    <a:bodyPr/>
                    <a:lstStyle/>
                    <a:p>
                      <a:pPr>
                        <a:spcAft>
                          <a:spcPts val="0"/>
                        </a:spcAft>
                      </a:pPr>
                      <a:r>
                        <a:rPr sz="1100" b="0">
                          <a:solidFill>
                            <a:srgbClr val="053C5A"/>
                          </a:solidFill>
                          <a:latin typeface="Arial"/>
                        </a:rPr>
                        <a:t>internal.logistic l1 minus length only</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59.9897 pp</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&gt; 0 pp</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FFFFF"/>
                    </a:solidFill>
                  </a:tcPr>
                </a:tc>
              </a:tr>
              <a:tr h="324196">
                <a:tc>
                  <a:txBody>
                    <a:bodyPr/>
                    <a:lstStyle/>
                    <a:p>
                      <a:pPr>
                        <a:spcAft>
                          <a:spcPts val="0"/>
                        </a:spcAft>
                      </a:pPr>
                      <a:r>
                        <a:rPr sz="1100" b="0">
                          <a:solidFill>
                            <a:srgbClr val="053C5A"/>
                          </a:solidFill>
                          <a:latin typeface="Arial"/>
                        </a:rPr>
                        <a:t>internal.cascade minus logistic l1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0.0000 pp</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&gt; 0 pp</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4F7F9"/>
                    </a:solidFill>
                  </a:tcPr>
                </a:tc>
              </a:tr>
              <a:tr h="324196">
                <a:tc>
                  <a:txBody>
                    <a:bodyPr/>
                    <a:lstStyle/>
                    <a:p>
                      <a:pPr>
                        <a:spcAft>
                          <a:spcPts val="0"/>
                        </a:spcAft>
                      </a:pPr>
                      <a:r>
                        <a:rPr sz="1100" b="0">
                          <a:solidFill>
                            <a:srgbClr val="053C5A"/>
                          </a:solidFill>
                          <a:latin typeface="Arial"/>
                        </a:rPr>
                        <a:t>gold.logistic l1 minus length only</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66.6667 pp</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&gt; 0 pp</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FFFFF"/>
                    </a:solidFill>
                  </a:tcPr>
                </a:tc>
              </a:tr>
              <a:tr h="324200">
                <a:tc>
                  <a:txBody>
                    <a:bodyPr/>
                    <a:lstStyle/>
                    <a:p>
                      <a:pPr>
                        <a:spcAft>
                          <a:spcPts val="0"/>
                        </a:spcAft>
                      </a:pPr>
                      <a:r>
                        <a:rPr sz="1100" b="0">
                          <a:solidFill>
                            <a:srgbClr val="053C5A"/>
                          </a:solidFill>
                          <a:latin typeface="Arial"/>
                        </a:rPr>
                        <a:t>gold.cascade minus logistic l1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0.0000 pp</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&gt; 0 pp</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4F7F9"/>
                    </a:solidFill>
                  </a:tcPr>
                </a:tc>
              </a:tr>
            </a:tbl>
          </a:graphicData>
        </a:graphic>
      </p:graphicFrame>
      <p:sp>
        <p:nvSpPr>
          <p:cNvPr id="5" name="Rounded Rectangle 4"/>
          <p:cNvSpPr/>
          <p:nvPr/>
        </p:nvSpPr>
        <p:spPr>
          <a:xfrm>
            <a:off x="438912" y="4983480"/>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080" b="1">
                <a:solidFill>
                  <a:srgbClr val="053C5A"/>
                </a:solidFill>
                <a:latin typeface="Arial"/>
              </a:rPr>
              <a:t>Contrast operands are lower confidence bounds; all decisions use full precision. No missing gates.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Appendix: every H2 gate</a:t>
            </a:r>
          </a:p>
        </p:txBody>
      </p:sp>
      <p:graphicFrame>
        <p:nvGraphicFramePr>
          <p:cNvPr id="4" name="Table 3"/>
          <p:cNvGraphicFramePr>
            <a:graphicFrameLocks noGrp="1"/>
          </p:cNvGraphicFramePr>
          <p:nvPr/>
        </p:nvGraphicFramePr>
        <p:xfrm>
          <a:off x="438912" y="1188720"/>
          <a:ext cx="8247885" cy="3566160"/>
        </p:xfrm>
        <a:graphic>
          <a:graphicData uri="http://schemas.openxmlformats.org/drawingml/2006/table">
            <a:tbl>
              <a:tblPr firstRow="1" bandRow="1">
                <a:tableStyleId>{5C22544A-7EE6-4342-B048-85BDC9FD1C3A}</a:tableStyleId>
              </a:tblPr>
              <a:tblGrid>
                <a:gridCol w="4288901"/>
                <a:gridCol w="1484619"/>
                <a:gridCol w="1484619"/>
                <a:gridCol w="989746"/>
              </a:tblGrid>
              <a:tr h="713232">
                <a:tc>
                  <a:txBody>
                    <a:bodyPr/>
                    <a:lstStyle/>
                    <a:p>
                      <a:pPr>
                        <a:spcAft>
                          <a:spcPts val="0"/>
                        </a:spcAft>
                      </a:pPr>
                      <a:r>
                        <a:rPr sz="1100" b="1">
                          <a:solidFill>
                            <a:srgbClr val="053C5A"/>
                          </a:solidFill>
                          <a:latin typeface="Arial"/>
                        </a:rPr>
                        <a:t>Gate</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Operand</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Required</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Result</a:t>
                      </a:r>
                    </a:p>
                  </a:txBody>
                  <a:tcPr anchor="ctr" marL="64008" marR="64008" marT="27432" marB="27432">
                    <a:solidFill>
                      <a:srgbClr val="E9F3F7"/>
                    </a:solidFill>
                  </a:tcPr>
                </a:tc>
              </a:tr>
              <a:tr h="713232">
                <a:tc>
                  <a:txBody>
                    <a:bodyPr/>
                    <a:lstStyle/>
                    <a:p>
                      <a:pPr>
                        <a:spcAft>
                          <a:spcPts val="0"/>
                        </a:spcAft>
                      </a:pPr>
                      <a:r>
                        <a:rPr sz="1100" b="0">
                          <a:solidFill>
                            <a:srgbClr val="053C5A"/>
                          </a:solidFill>
                          <a:latin typeface="Arial"/>
                        </a:rPr>
                        <a:t>external window alerts</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87.1212%</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&gt;= 80%</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FFFFF"/>
                    </a:solidFill>
                  </a:tcPr>
                </a:tc>
              </a:tr>
              <a:tr h="713232">
                <a:tc>
                  <a:txBody>
                    <a:bodyPr/>
                    <a:lstStyle/>
                    <a:p>
                      <a:pPr>
                        <a:spcAft>
                          <a:spcPts val="0"/>
                        </a:spcAft>
                      </a:pPr>
                      <a:r>
                        <a:rPr sz="1100" b="0">
                          <a:solidFill>
                            <a:srgbClr val="053C5A"/>
                          </a:solidFill>
                          <a:latin typeface="Arial"/>
                        </a:rPr>
                        <a:t>audit window alerts</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11.1111%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&lt;= 5%</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4F7F9"/>
                    </a:solidFill>
                  </a:tcPr>
                </a:tc>
              </a:tr>
              <a:tr h="713232">
                <a:tc>
                  <a:txBody>
                    <a:bodyPr/>
                    <a:lstStyle/>
                    <a:p>
                      <a:pPr>
                        <a:spcAft>
                          <a:spcPts val="0"/>
                        </a:spcAft>
                      </a:pPr>
                      <a:r>
                        <a:rPr sz="1100" b="0">
                          <a:solidFill>
                            <a:srgbClr val="053C5A"/>
                          </a:solidFill>
                          <a:latin typeface="Arial"/>
                        </a:rPr>
                        <a:t>certified.policy.fpr</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99.2791%</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FFFFF"/>
                    </a:solidFill>
                  </a:tcPr>
                </a:tc>
              </a:tr>
              <a:tr h="713232">
                <a:tc>
                  <a:txBody>
                    <a:bodyPr/>
                    <a:lstStyle/>
                    <a:p>
                      <a:pPr>
                        <a:spcAft>
                          <a:spcPts val="0"/>
                        </a:spcAft>
                      </a:pPr>
                      <a:r>
                        <a:rPr sz="1100" b="0">
                          <a:solidFill>
                            <a:srgbClr val="053C5A"/>
                          </a:solidFill>
                          <a:latin typeface="Arial"/>
                        </a:rPr>
                        <a:t>gold.policy minus cascade</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0.0000 pp</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&gt; 0 pp</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4F7F9"/>
                    </a:solidFill>
                  </a:tcPr>
                </a:tc>
              </a:tr>
            </a:tbl>
          </a:graphicData>
        </a:graphic>
      </p:graphicFrame>
      <p:sp>
        <p:nvSpPr>
          <p:cNvPr id="5" name="Rounded Rectangle 4"/>
          <p:cNvSpPr/>
          <p:nvPr/>
        </p:nvSpPr>
        <p:spPr>
          <a:xfrm>
            <a:off x="438912" y="4983480"/>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080" b="1">
                <a:solidFill>
                  <a:srgbClr val="053C5A"/>
                </a:solidFill>
                <a:latin typeface="Arial"/>
              </a:rPr>
              <a:t>Contrast operands are lower confidence bounds; all decisions use full precision. No missing gates.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Appendix: every H3 gate</a:t>
            </a:r>
          </a:p>
        </p:txBody>
      </p:sp>
      <p:graphicFrame>
        <p:nvGraphicFramePr>
          <p:cNvPr id="4" name="Table 3"/>
          <p:cNvGraphicFramePr>
            <a:graphicFrameLocks noGrp="1"/>
          </p:cNvGraphicFramePr>
          <p:nvPr/>
        </p:nvGraphicFramePr>
        <p:xfrm>
          <a:off x="438912" y="1188720"/>
          <a:ext cx="8247885" cy="3566160"/>
        </p:xfrm>
        <a:graphic>
          <a:graphicData uri="http://schemas.openxmlformats.org/drawingml/2006/table">
            <a:tbl>
              <a:tblPr firstRow="1" bandRow="1">
                <a:tableStyleId>{5C22544A-7EE6-4342-B048-85BDC9FD1C3A}</a:tableStyleId>
              </a:tblPr>
              <a:tblGrid>
                <a:gridCol w="4288901"/>
                <a:gridCol w="1484619"/>
                <a:gridCol w="1484619"/>
                <a:gridCol w="989746"/>
              </a:tblGrid>
              <a:tr h="396240">
                <a:tc>
                  <a:txBody>
                    <a:bodyPr/>
                    <a:lstStyle/>
                    <a:p>
                      <a:pPr>
                        <a:spcAft>
                          <a:spcPts val="0"/>
                        </a:spcAft>
                      </a:pPr>
                      <a:r>
                        <a:rPr sz="1100" b="1">
                          <a:solidFill>
                            <a:srgbClr val="053C5A"/>
                          </a:solidFill>
                          <a:latin typeface="Arial"/>
                        </a:rPr>
                        <a:t>Gate</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Operand</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Required</a:t>
                      </a:r>
                    </a:p>
                  </a:txBody>
                  <a:tcPr anchor="ctr" marL="64008" marR="64008" marT="27432" marB="27432">
                    <a:solidFill>
                      <a:srgbClr val="E9F3F7"/>
                    </a:solidFill>
                  </a:tcPr>
                </a:tc>
                <a:tc>
                  <a:txBody>
                    <a:bodyPr/>
                    <a:lstStyle/>
                    <a:p>
                      <a:pPr>
                        <a:spcAft>
                          <a:spcPts val="0"/>
                        </a:spcAft>
                      </a:pPr>
                      <a:r>
                        <a:rPr sz="1100" b="1">
                          <a:solidFill>
                            <a:srgbClr val="053C5A"/>
                          </a:solidFill>
                          <a:latin typeface="Arial"/>
                        </a:rPr>
                        <a:t>Result</a:t>
                      </a:r>
                    </a:p>
                  </a:txBody>
                  <a:tcPr anchor="ctr" marL="64008" marR="64008" marT="27432" marB="27432">
                    <a:solidFill>
                      <a:srgbClr val="E9F3F7"/>
                    </a:solidFill>
                  </a:tcPr>
                </a:tc>
              </a:tr>
              <a:tr h="396240">
                <a:tc>
                  <a:txBody>
                    <a:bodyPr/>
                    <a:lstStyle/>
                    <a:p>
                      <a:pPr>
                        <a:spcAft>
                          <a:spcPts val="0"/>
                        </a:spcAft>
                      </a:pPr>
                      <a:r>
                        <a:rPr sz="1100" b="0">
                          <a:solidFill>
                            <a:srgbClr val="053C5A"/>
                          </a:solidFill>
                          <a:latin typeface="Arial"/>
                        </a:rPr>
                        <a:t>certified.cascade.fpr</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90.5487%</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FFFFF"/>
                    </a:solidFill>
                  </a:tcPr>
                </a:tc>
              </a:tr>
              <a:tr h="396240">
                <a:tc>
                  <a:txBody>
                    <a:bodyPr/>
                    <a:lstStyle/>
                    <a:p>
                      <a:pPr>
                        <a:spcAft>
                          <a:spcPts val="0"/>
                        </a:spcAft>
                      </a:pPr>
                      <a:r>
                        <a:rPr sz="1100" b="0">
                          <a:solidFill>
                            <a:srgbClr val="053C5A"/>
                          </a:solidFill>
                          <a:latin typeface="Arial"/>
                        </a:rPr>
                        <a:t>certified.transformer.fpr</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99.2791%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4F7F9"/>
                    </a:solidFill>
                  </a:tcPr>
                </a:tc>
              </a:tr>
              <a:tr h="396240">
                <a:tc>
                  <a:txBody>
                    <a:bodyPr/>
                    <a:lstStyle/>
                    <a:p>
                      <a:pPr>
                        <a:spcAft>
                          <a:spcPts val="0"/>
                        </a:spcAft>
                      </a:pPr>
                      <a:r>
                        <a:rPr sz="1100" b="0">
                          <a:solidFill>
                            <a:srgbClr val="053C5A"/>
                          </a:solidFill>
                          <a:latin typeface="Arial"/>
                        </a:rPr>
                        <a:t>tranco.cascade.alert rate</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100.0000%</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FFFFF"/>
                    </a:solidFill>
                  </a:tcPr>
                </a:tc>
              </a:tr>
              <a:tr h="396240">
                <a:tc>
                  <a:txBody>
                    <a:bodyPr/>
                    <a:lstStyle/>
                    <a:p>
                      <a:pPr>
                        <a:spcAft>
                          <a:spcPts val="0"/>
                        </a:spcAft>
                      </a:pPr>
                      <a:r>
                        <a:rPr sz="1100" b="0">
                          <a:solidFill>
                            <a:srgbClr val="053C5A"/>
                          </a:solidFill>
                          <a:latin typeface="Arial"/>
                        </a:rPr>
                        <a:t>tranco.transformer.alert rate</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100.0000%</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&lt;= 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4F7F9"/>
                    </a:solidFill>
                  </a:tcPr>
                </a:tc>
              </a:tr>
              <a:tr h="396240">
                <a:tc>
                  <a:txBody>
                    <a:bodyPr/>
                    <a:lstStyle/>
                    <a:p>
                      <a:pPr>
                        <a:spcAft>
                          <a:spcPts val="0"/>
                        </a:spcAft>
                      </a:pPr>
                      <a:r>
                        <a:rPr sz="1100" b="0">
                          <a:solidFill>
                            <a:srgbClr val="053C5A"/>
                          </a:solidFill>
                          <a:latin typeface="Arial"/>
                        </a:rPr>
                        <a:t>gold.cascade minus transformer</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0.0000 pp</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&gt;= -2 pp</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FFFFF"/>
                    </a:solidFill>
                  </a:tcPr>
                </a:tc>
              </a:tr>
              <a:tr h="396240">
                <a:tc>
                  <a:txBody>
                    <a:bodyPr/>
                    <a:lstStyle/>
                    <a:p>
                      <a:pPr>
                        <a:spcAft>
                          <a:spcPts val="0"/>
                        </a:spcAft>
                      </a:pPr>
                      <a:r>
                        <a:rPr sz="1100" b="0">
                          <a:solidFill>
                            <a:srgbClr val="053C5A"/>
                          </a:solidFill>
                          <a:latin typeface="Arial"/>
                        </a:rPr>
                        <a:t>reference transformer invocations</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0.0000%</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&lt;= 30%</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4F7F9"/>
                    </a:solidFill>
                  </a:tcPr>
                </a:tc>
              </a:tr>
              <a:tr h="396240">
                <a:tc>
                  <a:txBody>
                    <a:bodyPr/>
                    <a:lstStyle/>
                    <a:p>
                      <a:pPr>
                        <a:spcAft>
                          <a:spcPts val="0"/>
                        </a:spcAft>
                      </a:pPr>
                      <a:r>
                        <a:rPr sz="1100" b="0">
                          <a:solidFill>
                            <a:srgbClr val="053C5A"/>
                          </a:solidFill>
                          <a:latin typeface="Arial"/>
                        </a:rPr>
                        <a:t>http pooled p95 ms</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364.3004 ms</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&lt;= 200 ms</a:t>
                      </a:r>
                    </a:p>
                  </a:txBody>
                  <a:tcPr anchor="ctr" marL="64008" marR="64008" marT="27432" marB="27432">
                    <a:solidFill>
                      <a:srgbClr val="FFFFFF"/>
                    </a:solidFill>
                  </a:tcPr>
                </a:tc>
                <a:tc>
                  <a:txBody>
                    <a:bodyPr/>
                    <a:lstStyle/>
                    <a:p>
                      <a:pPr>
                        <a:spcAft>
                          <a:spcPts val="0"/>
                        </a:spcAft>
                      </a:pPr>
                      <a:r>
                        <a:rPr sz="1100" b="0">
                          <a:solidFill>
                            <a:srgbClr val="053C5A"/>
                          </a:solidFill>
                          <a:latin typeface="Arial"/>
                        </a:rPr>
                        <a:t>FAIL</a:t>
                      </a:r>
                    </a:p>
                  </a:txBody>
                  <a:tcPr anchor="ctr" marL="64008" marR="64008" marT="27432" marB="27432">
                    <a:solidFill>
                      <a:srgbClr val="FFFFFF"/>
                    </a:solidFill>
                  </a:tcPr>
                </a:tc>
              </a:tr>
              <a:tr h="396240">
                <a:tc>
                  <a:txBody>
                    <a:bodyPr/>
                    <a:lstStyle/>
                    <a:p>
                      <a:pPr>
                        <a:spcAft>
                          <a:spcPts val="0"/>
                        </a:spcAft>
                      </a:pPr>
                      <a:r>
                        <a:rPr sz="1100" b="0">
                          <a:solidFill>
                            <a:srgbClr val="053C5A"/>
                          </a:solidFill>
                          <a:latin typeface="Arial"/>
                        </a:rPr>
                        <a:t>http request errors</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0.0000%</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&lt; 0.1%</a:t>
                      </a:r>
                    </a:p>
                  </a:txBody>
                  <a:tcPr anchor="ctr" marL="64008" marR="64008" marT="27432" marB="27432">
                    <a:solidFill>
                      <a:srgbClr val="F4F7F9"/>
                    </a:solidFill>
                  </a:tcPr>
                </a:tc>
                <a:tc>
                  <a:txBody>
                    <a:bodyPr/>
                    <a:lstStyle/>
                    <a:p>
                      <a:pPr>
                        <a:spcAft>
                          <a:spcPts val="0"/>
                        </a:spcAft>
                      </a:pPr>
                      <a:r>
                        <a:rPr sz="1100" b="0">
                          <a:solidFill>
                            <a:srgbClr val="053C5A"/>
                          </a:solidFill>
                          <a:latin typeface="Arial"/>
                        </a:rPr>
                        <a:t>PASS</a:t>
                      </a:r>
                    </a:p>
                  </a:txBody>
                  <a:tcPr anchor="ctr" marL="64008" marR="64008" marT="27432" marB="27432">
                    <a:solidFill>
                      <a:srgbClr val="F4F7F9"/>
                    </a:solidFill>
                  </a:tcPr>
                </a:tc>
              </a:tr>
            </a:tbl>
          </a:graphicData>
        </a:graphic>
      </p:graphicFrame>
      <p:sp>
        <p:nvSpPr>
          <p:cNvPr id="5" name="Rounded Rectangle 4"/>
          <p:cNvSpPr/>
          <p:nvPr/>
        </p:nvSpPr>
        <p:spPr>
          <a:xfrm>
            <a:off x="438912" y="4983480"/>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080" b="1">
                <a:solidFill>
                  <a:srgbClr val="053C5A"/>
                </a:solidFill>
                <a:latin typeface="Arial"/>
              </a:rPr>
              <a:t>Contrast operands are lower confidence bounds; all decisions use full precision. No missing gates.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Appendix: full operational matrix (1/3)</a:t>
            </a:r>
          </a:p>
        </p:txBody>
      </p:sp>
      <p:graphicFrame>
        <p:nvGraphicFramePr>
          <p:cNvPr id="4" name="Table 3"/>
          <p:cNvGraphicFramePr>
            <a:graphicFrameLocks noGrp="1"/>
          </p:cNvGraphicFramePr>
          <p:nvPr/>
        </p:nvGraphicFramePr>
        <p:xfrm>
          <a:off x="438912" y="1188720"/>
          <a:ext cx="8247885" cy="3566160"/>
        </p:xfrm>
        <a:graphic>
          <a:graphicData uri="http://schemas.openxmlformats.org/drawingml/2006/table">
            <a:tbl>
              <a:tblPr firstRow="1" bandRow="1">
                <a:tableStyleId>{5C22544A-7EE6-4342-B048-85BDC9FD1C3A}</a:tableStyleId>
              </a:tblPr>
              <a:tblGrid>
                <a:gridCol w="2886760"/>
                <a:gridCol w="1072225"/>
                <a:gridCol w="1072225"/>
                <a:gridCol w="1072225"/>
                <a:gridCol w="2144450"/>
              </a:tblGrid>
              <a:tr h="356616">
                <a:tc>
                  <a:txBody>
                    <a:bodyPr/>
                    <a:lstStyle/>
                    <a:p>
                      <a:pPr>
                        <a:spcAft>
                          <a:spcPts val="0"/>
                        </a:spcAft>
                      </a:pPr>
                      <a:r>
                        <a:rPr sz="1170" b="1">
                          <a:solidFill>
                            <a:srgbClr val="053C5A"/>
                          </a:solidFill>
                          <a:latin typeface="Arial"/>
                        </a:rPr>
                        <a:t>Group (5 repeats)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p50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p95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p99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Errors / requests</a:t>
                      </a:r>
                    </a:p>
                  </a:txBody>
                  <a:tcPr anchor="ctr" marL="64008" marR="64008" marT="27432" marB="27432">
                    <a:solidFill>
                      <a:srgbClr val="E9F3F7"/>
                    </a:solidFill>
                  </a:tcPr>
                </a:tc>
              </a:tr>
              <a:tr h="356616">
                <a:tc>
                  <a:txBody>
                    <a:bodyPr/>
                    <a:lstStyle/>
                    <a:p>
                      <a:pPr>
                        <a:spcAft>
                          <a:spcPts val="0"/>
                        </a:spcAft>
                      </a:pPr>
                      <a:r>
                        <a:rPr sz="1170" b="0">
                          <a:solidFill>
                            <a:srgbClr val="053C5A"/>
                          </a:solidFill>
                          <a:latin typeface="Arial"/>
                        </a:rPr>
                        <a:t>Fixed 1% c1</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1.27</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1.49</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1.69</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356616">
                <a:tc>
                  <a:txBody>
                    <a:bodyPr/>
                    <a:lstStyle/>
                    <a:p>
                      <a:pPr>
                        <a:spcAft>
                          <a:spcPts val="0"/>
                        </a:spcAft>
                      </a:pPr>
                      <a:r>
                        <a:rPr sz="1170" b="0">
                          <a:solidFill>
                            <a:srgbClr val="053C5A"/>
                          </a:solidFill>
                          <a:latin typeface="Arial"/>
                        </a:rPr>
                        <a:t>Fixed 1% c8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5.75</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10.03</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13.46</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356616">
                <a:tc>
                  <a:txBody>
                    <a:bodyPr/>
                    <a:lstStyle/>
                    <a:p>
                      <a:pPr>
                        <a:spcAft>
                          <a:spcPts val="0"/>
                        </a:spcAft>
                      </a:pPr>
                      <a:r>
                        <a:rPr sz="1170" b="0">
                          <a:solidFill>
                            <a:srgbClr val="053C5A"/>
                          </a:solidFill>
                          <a:latin typeface="Arial"/>
                        </a:rPr>
                        <a:t>Fixed 1% c16</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18.48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45.58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65.89</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356616">
                <a:tc>
                  <a:txBody>
                    <a:bodyPr/>
                    <a:lstStyle/>
                    <a:p>
                      <a:pPr>
                        <a:spcAft>
                          <a:spcPts val="0"/>
                        </a:spcAft>
                      </a:pPr>
                      <a:r>
                        <a:rPr sz="1170" b="0">
                          <a:solidFill>
                            <a:srgbClr val="053C5A"/>
                          </a:solidFill>
                          <a:latin typeface="Arial"/>
                        </a:rPr>
                        <a:t>Fixed 1% c32</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43.10</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130.18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196.80</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356616">
                <a:tc>
                  <a:txBody>
                    <a:bodyPr/>
                    <a:lstStyle/>
                    <a:p>
                      <a:pPr>
                        <a:spcAft>
                          <a:spcPts val="0"/>
                        </a:spcAft>
                      </a:pPr>
                      <a:r>
                        <a:rPr sz="1170" b="0">
                          <a:solidFill>
                            <a:srgbClr val="053C5A"/>
                          </a:solidFill>
                          <a:latin typeface="Arial"/>
                        </a:rPr>
                        <a:t>Fixed 1% c64</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103.39</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364.30</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581.59</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356616">
                <a:tc>
                  <a:txBody>
                    <a:bodyPr/>
                    <a:lstStyle/>
                    <a:p>
                      <a:pPr>
                        <a:spcAft>
                          <a:spcPts val="0"/>
                        </a:spcAft>
                      </a:pPr>
                      <a:r>
                        <a:rPr sz="1170" b="0">
                          <a:solidFill>
                            <a:srgbClr val="053C5A"/>
                          </a:solidFill>
                          <a:latin typeface="Arial"/>
                        </a:rPr>
                        <a:t>Fixed 1% c128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237.49</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897.34</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1452.18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120/50000</a:t>
                      </a:r>
                    </a:p>
                  </a:txBody>
                  <a:tcPr anchor="ctr" marL="64008" marR="64008" marT="27432" marB="27432">
                    <a:solidFill>
                      <a:srgbClr val="F4F7F9"/>
                    </a:solidFill>
                  </a:tcPr>
                </a:tc>
              </a:tr>
              <a:tr h="356616">
                <a:tc>
                  <a:txBody>
                    <a:bodyPr/>
                    <a:lstStyle/>
                    <a:p>
                      <a:pPr>
                        <a:spcAft>
                          <a:spcPts val="0"/>
                        </a:spcAft>
                      </a:pPr>
                      <a:r>
                        <a:rPr sz="1170" b="0">
                          <a:solidFill>
                            <a:srgbClr val="053C5A"/>
                          </a:solidFill>
                          <a:latin typeface="Arial"/>
                        </a:rPr>
                        <a:t>Fixed 0.1% c1</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1.26</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1.48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1.65</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356616">
                <a:tc>
                  <a:txBody>
                    <a:bodyPr/>
                    <a:lstStyle/>
                    <a:p>
                      <a:pPr>
                        <a:spcAft>
                          <a:spcPts val="0"/>
                        </a:spcAft>
                      </a:pPr>
                      <a:r>
                        <a:rPr sz="1170" b="0">
                          <a:solidFill>
                            <a:srgbClr val="053C5A"/>
                          </a:solidFill>
                          <a:latin typeface="Arial"/>
                        </a:rPr>
                        <a:t>Fixed 0.1% c8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5.77</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10.04</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13.62</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356616">
                <a:tc>
                  <a:txBody>
                    <a:bodyPr/>
                    <a:lstStyle/>
                    <a:p>
                      <a:pPr>
                        <a:spcAft>
                          <a:spcPts val="0"/>
                        </a:spcAft>
                      </a:pPr>
                      <a:r>
                        <a:rPr sz="1170" b="0">
                          <a:solidFill>
                            <a:srgbClr val="053C5A"/>
                          </a:solidFill>
                          <a:latin typeface="Arial"/>
                        </a:rPr>
                        <a:t>Fixed 0.1% c16</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18.70</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45.35</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65.70</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bl>
          </a:graphicData>
        </a:graphic>
      </p:graphicFrame>
      <p:sp>
        <p:nvSpPr>
          <p:cNvPr id="5" name="Rounded Rectangle 4"/>
          <p:cNvSpPr/>
          <p:nvPr/>
        </p:nvSpPr>
        <p:spPr>
          <a:xfrm>
            <a:off x="438912" y="4983480"/>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080" b="1">
                <a:solidFill>
                  <a:srgbClr val="053C5A"/>
                </a:solidFill>
                <a:latin typeface="Arial"/>
              </a:rPr>
              <a:t>Warmup excluded; terminal latencies include failures. All individual throughput/counter records supplied.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Appendix: full operational matrix (2/3)</a:t>
            </a:r>
          </a:p>
        </p:txBody>
      </p:sp>
      <p:graphicFrame>
        <p:nvGraphicFramePr>
          <p:cNvPr id="4" name="Table 3"/>
          <p:cNvGraphicFramePr>
            <a:graphicFrameLocks noGrp="1"/>
          </p:cNvGraphicFramePr>
          <p:nvPr/>
        </p:nvGraphicFramePr>
        <p:xfrm>
          <a:off x="438912" y="1188720"/>
          <a:ext cx="8247885" cy="3566160"/>
        </p:xfrm>
        <a:graphic>
          <a:graphicData uri="http://schemas.openxmlformats.org/drawingml/2006/table">
            <a:tbl>
              <a:tblPr firstRow="1" bandRow="1">
                <a:tableStyleId>{5C22544A-7EE6-4342-B048-85BDC9FD1C3A}</a:tableStyleId>
              </a:tblPr>
              <a:tblGrid>
                <a:gridCol w="2886760"/>
                <a:gridCol w="1072225"/>
                <a:gridCol w="1072225"/>
                <a:gridCol w="1072225"/>
                <a:gridCol w="2144450"/>
              </a:tblGrid>
              <a:tr h="356616">
                <a:tc>
                  <a:txBody>
                    <a:bodyPr/>
                    <a:lstStyle/>
                    <a:p>
                      <a:pPr>
                        <a:spcAft>
                          <a:spcPts val="0"/>
                        </a:spcAft>
                      </a:pPr>
                      <a:r>
                        <a:rPr sz="1170" b="1">
                          <a:solidFill>
                            <a:srgbClr val="053C5A"/>
                          </a:solidFill>
                          <a:latin typeface="Arial"/>
                        </a:rPr>
                        <a:t>Group (5 repeats)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p50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p95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p99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Errors / requests</a:t>
                      </a:r>
                    </a:p>
                  </a:txBody>
                  <a:tcPr anchor="ctr" marL="64008" marR="64008" marT="27432" marB="27432">
                    <a:solidFill>
                      <a:srgbClr val="E9F3F7"/>
                    </a:solidFill>
                  </a:tcPr>
                </a:tc>
              </a:tr>
              <a:tr h="356616">
                <a:tc>
                  <a:txBody>
                    <a:bodyPr/>
                    <a:lstStyle/>
                    <a:p>
                      <a:pPr>
                        <a:spcAft>
                          <a:spcPts val="0"/>
                        </a:spcAft>
                      </a:pPr>
                      <a:r>
                        <a:rPr sz="1170" b="0">
                          <a:solidFill>
                            <a:srgbClr val="053C5A"/>
                          </a:solidFill>
                          <a:latin typeface="Arial"/>
                        </a:rPr>
                        <a:t>Fixed 0.1% c32</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45.83</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138.86</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212.35</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356616">
                <a:tc>
                  <a:txBody>
                    <a:bodyPr/>
                    <a:lstStyle/>
                    <a:p>
                      <a:pPr>
                        <a:spcAft>
                          <a:spcPts val="0"/>
                        </a:spcAft>
                      </a:pPr>
                      <a:r>
                        <a:rPr sz="1170" b="0">
                          <a:solidFill>
                            <a:srgbClr val="053C5A"/>
                          </a:solidFill>
                          <a:latin typeface="Arial"/>
                        </a:rPr>
                        <a:t>Fixed 0.1% c64</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102.18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341.84</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528.29</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356616">
                <a:tc>
                  <a:txBody>
                    <a:bodyPr/>
                    <a:lstStyle/>
                    <a:p>
                      <a:pPr>
                        <a:spcAft>
                          <a:spcPts val="0"/>
                        </a:spcAft>
                      </a:pPr>
                      <a:r>
                        <a:rPr sz="1170" b="0">
                          <a:solidFill>
                            <a:srgbClr val="053C5A"/>
                          </a:solidFill>
                          <a:latin typeface="Arial"/>
                        </a:rPr>
                        <a:t>Fixed 0.1% c128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222.65</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795.94</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1217.36</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36/50000</a:t>
                      </a:r>
                    </a:p>
                  </a:txBody>
                  <a:tcPr anchor="ctr" marL="64008" marR="64008" marT="27432" marB="27432">
                    <a:solidFill>
                      <a:srgbClr val="FFFFFF"/>
                    </a:solidFill>
                  </a:tcPr>
                </a:tc>
              </a:tr>
              <a:tr h="356616">
                <a:tc>
                  <a:txBody>
                    <a:bodyPr/>
                    <a:lstStyle/>
                    <a:p>
                      <a:pPr>
                        <a:spcAft>
                          <a:spcPts val="0"/>
                        </a:spcAft>
                      </a:pPr>
                      <a:r>
                        <a:rPr sz="1170" b="0">
                          <a:solidFill>
                            <a:srgbClr val="053C5A"/>
                          </a:solidFill>
                          <a:latin typeface="Arial"/>
                        </a:rPr>
                        <a:t>Fixed 5% c1</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1.27</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1.49</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1.65</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356616">
                <a:tc>
                  <a:txBody>
                    <a:bodyPr/>
                    <a:lstStyle/>
                    <a:p>
                      <a:pPr>
                        <a:spcAft>
                          <a:spcPts val="0"/>
                        </a:spcAft>
                      </a:pPr>
                      <a:r>
                        <a:rPr sz="1170" b="0">
                          <a:solidFill>
                            <a:srgbClr val="053C5A"/>
                          </a:solidFill>
                          <a:latin typeface="Arial"/>
                        </a:rPr>
                        <a:t>Fixed 5% c8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5.93</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10.31</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13.94</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356616">
                <a:tc>
                  <a:txBody>
                    <a:bodyPr/>
                    <a:lstStyle/>
                    <a:p>
                      <a:pPr>
                        <a:spcAft>
                          <a:spcPts val="0"/>
                        </a:spcAft>
                      </a:pPr>
                      <a:r>
                        <a:rPr sz="1170" b="0">
                          <a:solidFill>
                            <a:srgbClr val="053C5A"/>
                          </a:solidFill>
                          <a:latin typeface="Arial"/>
                        </a:rPr>
                        <a:t>Fixed 5% c16</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18.14</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44.86</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68.40</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356616">
                <a:tc>
                  <a:txBody>
                    <a:bodyPr/>
                    <a:lstStyle/>
                    <a:p>
                      <a:pPr>
                        <a:spcAft>
                          <a:spcPts val="0"/>
                        </a:spcAft>
                      </a:pPr>
                      <a:r>
                        <a:rPr sz="1170" b="0">
                          <a:solidFill>
                            <a:srgbClr val="053C5A"/>
                          </a:solidFill>
                          <a:latin typeface="Arial"/>
                        </a:rPr>
                        <a:t>Fixed 5% c32</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45.37</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137.90</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207.37</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356616">
                <a:tc>
                  <a:txBody>
                    <a:bodyPr/>
                    <a:lstStyle/>
                    <a:p>
                      <a:pPr>
                        <a:spcAft>
                          <a:spcPts val="0"/>
                        </a:spcAft>
                      </a:pPr>
                      <a:r>
                        <a:rPr sz="1170" b="0">
                          <a:solidFill>
                            <a:srgbClr val="053C5A"/>
                          </a:solidFill>
                          <a:latin typeface="Arial"/>
                        </a:rPr>
                        <a:t>Fixed 5% c64</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102.13</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338.41</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518.37</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356616">
                <a:tc>
                  <a:txBody>
                    <a:bodyPr/>
                    <a:lstStyle/>
                    <a:p>
                      <a:pPr>
                        <a:spcAft>
                          <a:spcPts val="0"/>
                        </a:spcAft>
                      </a:pPr>
                      <a:r>
                        <a:rPr sz="1170" b="0">
                          <a:solidFill>
                            <a:srgbClr val="053C5A"/>
                          </a:solidFill>
                          <a:latin typeface="Arial"/>
                        </a:rPr>
                        <a:t>Fixed 5% c128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227.82</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831.31</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1291.33</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59/50000</a:t>
                      </a:r>
                    </a:p>
                  </a:txBody>
                  <a:tcPr anchor="ctr" marL="64008" marR="64008" marT="27432" marB="27432">
                    <a:solidFill>
                      <a:srgbClr val="FFFFFF"/>
                    </a:solidFill>
                  </a:tcPr>
                </a:tc>
              </a:tr>
            </a:tbl>
          </a:graphicData>
        </a:graphic>
      </p:graphicFrame>
      <p:sp>
        <p:nvSpPr>
          <p:cNvPr id="5" name="Rounded Rectangle 4"/>
          <p:cNvSpPr/>
          <p:nvPr/>
        </p:nvSpPr>
        <p:spPr>
          <a:xfrm>
            <a:off x="438912" y="4983480"/>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080" b="1">
                <a:solidFill>
                  <a:srgbClr val="053C5A"/>
                </a:solidFill>
                <a:latin typeface="Arial"/>
              </a:rPr>
              <a:t>Warmup excluded; terminal latencies include failures. All individual throughput/counter records supplied.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Appendix: full operational matrix (3/3)</a:t>
            </a:r>
          </a:p>
        </p:txBody>
      </p:sp>
      <p:graphicFrame>
        <p:nvGraphicFramePr>
          <p:cNvPr id="4" name="Table 3"/>
          <p:cNvGraphicFramePr>
            <a:graphicFrameLocks noGrp="1"/>
          </p:cNvGraphicFramePr>
          <p:nvPr/>
        </p:nvGraphicFramePr>
        <p:xfrm>
          <a:off x="438912" y="1188720"/>
          <a:ext cx="8247885" cy="3566160"/>
        </p:xfrm>
        <a:graphic>
          <a:graphicData uri="http://schemas.openxmlformats.org/drawingml/2006/table">
            <a:tbl>
              <a:tblPr firstRow="1" bandRow="1">
                <a:tableStyleId>{5C22544A-7EE6-4342-B048-85BDC9FD1C3A}</a:tableStyleId>
              </a:tblPr>
              <a:tblGrid>
                <a:gridCol w="2886760"/>
                <a:gridCol w="1072225"/>
                <a:gridCol w="1072225"/>
                <a:gridCol w="1072225"/>
                <a:gridCol w="2144450"/>
              </a:tblGrid>
              <a:tr h="445770">
                <a:tc>
                  <a:txBody>
                    <a:bodyPr/>
                    <a:lstStyle/>
                    <a:p>
                      <a:pPr>
                        <a:spcAft>
                          <a:spcPts val="0"/>
                        </a:spcAft>
                      </a:pPr>
                      <a:r>
                        <a:rPr sz="1170" b="1">
                          <a:solidFill>
                            <a:srgbClr val="053C5A"/>
                          </a:solidFill>
                          <a:latin typeface="Arial"/>
                        </a:rPr>
                        <a:t>Group (5 repeats)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p50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p95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p99 ms</a:t>
                      </a:r>
                    </a:p>
                  </a:txBody>
                  <a:tcPr anchor="ctr" marL="64008" marR="64008" marT="27432" marB="27432">
                    <a:solidFill>
                      <a:srgbClr val="E9F3F7"/>
                    </a:solidFill>
                  </a:tcPr>
                </a:tc>
                <a:tc>
                  <a:txBody>
                    <a:bodyPr/>
                    <a:lstStyle/>
                    <a:p>
                      <a:pPr>
                        <a:spcAft>
                          <a:spcPts val="0"/>
                        </a:spcAft>
                      </a:pPr>
                      <a:r>
                        <a:rPr sz="1170" b="1">
                          <a:solidFill>
                            <a:srgbClr val="053C5A"/>
                          </a:solidFill>
                          <a:latin typeface="Arial"/>
                        </a:rPr>
                        <a:t>Errors / requests</a:t>
                      </a:r>
                    </a:p>
                  </a:txBody>
                  <a:tcPr anchor="ctr" marL="64008" marR="64008" marT="27432" marB="27432">
                    <a:solidFill>
                      <a:srgbClr val="E9F3F7"/>
                    </a:solidFill>
                  </a:tcPr>
                </a:tc>
              </a:tr>
              <a:tr h="445770">
                <a:tc>
                  <a:txBody>
                    <a:bodyPr/>
                    <a:lstStyle/>
                    <a:p>
                      <a:pPr>
                        <a:spcAft>
                          <a:spcPts val="0"/>
                        </a:spcAft>
                      </a:pPr>
                      <a:r>
                        <a:rPr sz="1170" b="0">
                          <a:solidFill>
                            <a:srgbClr val="053C5A"/>
                          </a:solidFill>
                          <a:latin typeface="Arial"/>
                        </a:rPr>
                        <a:t>Transformer 1% c1</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7.14</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8.08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8.58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445770">
                <a:tc>
                  <a:txBody>
                    <a:bodyPr/>
                    <a:lstStyle/>
                    <a:p>
                      <a:pPr>
                        <a:spcAft>
                          <a:spcPts val="0"/>
                        </a:spcAft>
                      </a:pPr>
                      <a:r>
                        <a:rPr sz="1170" b="0">
                          <a:solidFill>
                            <a:srgbClr val="053C5A"/>
                          </a:solidFill>
                          <a:latin typeface="Arial"/>
                        </a:rPr>
                        <a:t>Transformer 1% c8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49.03</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52.73</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54.58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445770">
                <a:tc>
                  <a:txBody>
                    <a:bodyPr/>
                    <a:lstStyle/>
                    <a:p>
                      <a:pPr>
                        <a:spcAft>
                          <a:spcPts val="0"/>
                        </a:spcAft>
                      </a:pPr>
                      <a:r>
                        <a:rPr sz="1170" b="0">
                          <a:solidFill>
                            <a:srgbClr val="053C5A"/>
                          </a:solidFill>
                          <a:latin typeface="Arial"/>
                        </a:rPr>
                        <a:t>Transformer 1% c16</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98.30</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104.86</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107.31</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FFFFF"/>
                    </a:solidFill>
                  </a:tcPr>
                </a:tc>
              </a:tr>
              <a:tr h="445770">
                <a:tc>
                  <a:txBody>
                    <a:bodyPr/>
                    <a:lstStyle/>
                    <a:p>
                      <a:pPr>
                        <a:spcAft>
                          <a:spcPts val="0"/>
                        </a:spcAft>
                      </a:pPr>
                      <a:r>
                        <a:rPr sz="1170" b="0">
                          <a:solidFill>
                            <a:srgbClr val="053C5A"/>
                          </a:solidFill>
                          <a:latin typeface="Arial"/>
                        </a:rPr>
                        <a:t>Transformer 1% c32</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200.79</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243.88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266.04</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0/50000</a:t>
                      </a:r>
                    </a:p>
                  </a:txBody>
                  <a:tcPr anchor="ctr" marL="64008" marR="64008" marT="27432" marB="27432">
                    <a:solidFill>
                      <a:srgbClr val="F4F7F9"/>
                    </a:solidFill>
                  </a:tcPr>
                </a:tc>
              </a:tr>
              <a:tr h="445770">
                <a:tc>
                  <a:txBody>
                    <a:bodyPr/>
                    <a:lstStyle/>
                    <a:p>
                      <a:pPr>
                        <a:spcAft>
                          <a:spcPts val="0"/>
                        </a:spcAft>
                      </a:pPr>
                      <a:r>
                        <a:rPr sz="1170" b="0">
                          <a:solidFill>
                            <a:srgbClr val="053C5A"/>
                          </a:solidFill>
                          <a:latin typeface="Arial"/>
                        </a:rPr>
                        <a:t>Transformer 1% c64</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412.50</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476.34</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1017.01</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74/50000</a:t>
                      </a:r>
                    </a:p>
                  </a:txBody>
                  <a:tcPr anchor="ctr" marL="64008" marR="64008" marT="27432" marB="27432">
                    <a:solidFill>
                      <a:srgbClr val="FFFFFF"/>
                    </a:solidFill>
                  </a:tcPr>
                </a:tc>
              </a:tr>
              <a:tr h="445770">
                <a:tc>
                  <a:txBody>
                    <a:bodyPr/>
                    <a:lstStyle/>
                    <a:p>
                      <a:pPr>
                        <a:spcAft>
                          <a:spcPts val="0"/>
                        </a:spcAft>
                      </a:pPr>
                      <a:r>
                        <a:rPr sz="1170" b="0">
                          <a:solidFill>
                            <a:srgbClr val="053C5A"/>
                          </a:solidFill>
                          <a:latin typeface="Arial"/>
                        </a:rPr>
                        <a:t>Transformer 1% c128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851.98</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970.86</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2241.20</a:t>
                      </a:r>
                    </a:p>
                  </a:txBody>
                  <a:tcPr anchor="ctr" marL="64008" marR="64008" marT="27432" marB="27432">
                    <a:solidFill>
                      <a:srgbClr val="F4F7F9"/>
                    </a:solidFill>
                  </a:tcPr>
                </a:tc>
                <a:tc>
                  <a:txBody>
                    <a:bodyPr/>
                    <a:lstStyle/>
                    <a:p>
                      <a:pPr>
                        <a:spcAft>
                          <a:spcPts val="0"/>
                        </a:spcAft>
                      </a:pPr>
                      <a:r>
                        <a:rPr sz="1170" b="0">
                          <a:solidFill>
                            <a:srgbClr val="053C5A"/>
                          </a:solidFill>
                          <a:latin typeface="Arial"/>
                        </a:rPr>
                        <a:t>1612/50000</a:t>
                      </a:r>
                    </a:p>
                  </a:txBody>
                  <a:tcPr anchor="ctr" marL="64008" marR="64008" marT="27432" marB="27432">
                    <a:solidFill>
                      <a:srgbClr val="F4F7F9"/>
                    </a:solidFill>
                  </a:tcPr>
                </a:tc>
              </a:tr>
              <a:tr h="445770">
                <a:tc>
                  <a:txBody>
                    <a:bodyPr/>
                    <a:lstStyle/>
                    <a:p>
                      <a:pPr>
                        <a:spcAft>
                          <a:spcPts val="0"/>
                        </a:spcAft>
                      </a:pPr>
                      <a:r>
                        <a:rPr sz="1170" b="0">
                          <a:solidFill>
                            <a:srgbClr val="053C5A"/>
                          </a:solidFill>
                          <a:latin typeface="Arial"/>
                        </a:rPr>
                        <a:t>Shift external c1</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10.27</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11.58</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12.42</a:t>
                      </a:r>
                    </a:p>
                  </a:txBody>
                  <a:tcPr anchor="ctr" marL="64008" marR="64008" marT="27432" marB="27432">
                    <a:solidFill>
                      <a:srgbClr val="FFFFFF"/>
                    </a:solidFill>
                  </a:tcPr>
                </a:tc>
                <a:tc>
                  <a:txBody>
                    <a:bodyPr/>
                    <a:lstStyle/>
                    <a:p>
                      <a:pPr>
                        <a:spcAft>
                          <a:spcPts val="0"/>
                        </a:spcAft>
                      </a:pPr>
                      <a:r>
                        <a:rPr sz="1170" b="0">
                          <a:solidFill>
                            <a:srgbClr val="053C5A"/>
                          </a:solidFill>
                          <a:latin typeface="Arial"/>
                        </a:rPr>
                        <a:t>0/43505</a:t>
                      </a:r>
                    </a:p>
                  </a:txBody>
                  <a:tcPr anchor="ctr" marL="64008" marR="64008" marT="27432" marB="27432">
                    <a:solidFill>
                      <a:srgbClr val="FFFFFF"/>
                    </a:solidFill>
                  </a:tcPr>
                </a:tc>
              </a:tr>
            </a:tbl>
          </a:graphicData>
        </a:graphic>
      </p:graphicFrame>
      <p:sp>
        <p:nvSpPr>
          <p:cNvPr id="5" name="Rounded Rectangle 4"/>
          <p:cNvSpPr/>
          <p:nvPr/>
        </p:nvSpPr>
        <p:spPr>
          <a:xfrm>
            <a:off x="438912" y="4983480"/>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080" b="1">
                <a:solidFill>
                  <a:srgbClr val="053C5A"/>
                </a:solidFill>
                <a:latin typeface="Arial"/>
              </a:rPr>
              <a:t>Warmup excluded; terminal latencies include failures. All individual throughput/counter records supplied.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All ten primary pairs: unchanged structural scorer, c64</a:t>
            </a:r>
          </a:p>
        </p:txBody>
      </p:sp>
      <p:graphicFrame>
        <p:nvGraphicFramePr>
          <p:cNvPr id="4" name="Table 3"/>
          <p:cNvGraphicFramePr>
            <a:graphicFrameLocks noGrp="1"/>
          </p:cNvGraphicFramePr>
          <p:nvPr/>
        </p:nvGraphicFramePr>
        <p:xfrm>
          <a:off x="438912" y="1097280"/>
          <a:ext cx="8247886" cy="3474720"/>
        </p:xfrm>
        <a:graphic>
          <a:graphicData uri="http://schemas.openxmlformats.org/drawingml/2006/table">
            <a:tbl>
              <a:tblPr firstRow="1" bandRow="1">
                <a:tableStyleId>{5C22544A-7EE6-4342-B048-85BDC9FD1C3A}</a:tableStyleId>
              </a:tblPr>
              <a:tblGrid>
                <a:gridCol w="1072225"/>
                <a:gridCol w="2474366"/>
                <a:gridCol w="2474366"/>
                <a:gridCol w="2226929"/>
              </a:tblGrid>
              <a:tr h="315883">
                <a:tc>
                  <a:txBody>
                    <a:bodyPr/>
                    <a:lstStyle/>
                    <a:p>
                      <a:pPr>
                        <a:spcAft>
                          <a:spcPts val="0"/>
                        </a:spcAft>
                      </a:pPr>
                      <a:r>
                        <a:rPr sz="1200" b="1">
                          <a:solidFill>
                            <a:srgbClr val="053C5A"/>
                          </a:solidFill>
                          <a:latin typeface="Arial"/>
                        </a:rPr>
                        <a:t>Pair</a:t>
                      </a:r>
                    </a:p>
                  </a:txBody>
                  <a:tcPr anchor="ctr" marL="64008" marR="64008" marT="27432" marB="27432">
                    <a:solidFill>
                      <a:srgbClr val="E9F3F7"/>
                    </a:solidFill>
                  </a:tcPr>
                </a:tc>
                <a:tc>
                  <a:txBody>
                    <a:bodyPr/>
                    <a:lstStyle/>
                    <a:p>
                      <a:pPr>
                        <a:spcAft>
                          <a:spcPts val="0"/>
                        </a:spcAft>
                      </a:pPr>
                      <a:r>
                        <a:rPr sz="1200" b="1">
                          <a:solidFill>
                            <a:srgbClr val="053C5A"/>
                          </a:solidFill>
                          <a:latin typeface="Arial"/>
                        </a:rPr>
                        <a:t>Shared p95 ms</a:t>
                      </a:r>
                    </a:p>
                  </a:txBody>
                  <a:tcPr anchor="ctr" marL="64008" marR="64008" marT="27432" marB="27432">
                    <a:solidFill>
                      <a:srgbClr val="E9F3F7"/>
                    </a:solidFill>
                  </a:tcPr>
                </a:tc>
                <a:tc>
                  <a:txBody>
                    <a:bodyPr/>
                    <a:lstStyle/>
                    <a:p>
                      <a:pPr>
                        <a:spcAft>
                          <a:spcPts val="0"/>
                        </a:spcAft>
                      </a:pPr>
                      <a:r>
                        <a:rPr sz="1200" b="1">
                          <a:solidFill>
                            <a:srgbClr val="053C5A"/>
                          </a:solidFill>
                          <a:latin typeface="Arial"/>
                        </a:rPr>
                        <a:t>Worker p95 ms</a:t>
                      </a:r>
                    </a:p>
                  </a:txBody>
                  <a:tcPr anchor="ctr" marL="64008" marR="64008" marT="27432" marB="27432">
                    <a:solidFill>
                      <a:srgbClr val="E9F3F7"/>
                    </a:solidFill>
                  </a:tcPr>
                </a:tc>
                <a:tc>
                  <a:txBody>
                    <a:bodyPr/>
                    <a:lstStyle/>
                    <a:p>
                      <a:pPr>
                        <a:spcAft>
                          <a:spcPts val="0"/>
                        </a:spcAft>
                      </a:pPr>
                      <a:r>
                        <a:rPr sz="1200" b="1">
                          <a:solidFill>
                            <a:srgbClr val="053C5A"/>
                          </a:solidFill>
                          <a:latin typeface="Arial"/>
                        </a:rPr>
                        <a:t>Ratio</a:t>
                      </a:r>
                    </a:p>
                  </a:txBody>
                  <a:tcPr anchor="ctr" marL="64008" marR="64008" marT="27432" marB="27432">
                    <a:solidFill>
                      <a:srgbClr val="E9F3F7"/>
                    </a:solidFill>
                  </a:tcPr>
                </a:tc>
              </a:tr>
              <a:tr h="315883">
                <a:tc>
                  <a:txBody>
                    <a:bodyPr/>
                    <a:lstStyle/>
                    <a:p>
                      <a:pPr>
                        <a:spcAft>
                          <a:spcPts val="0"/>
                        </a:spcAft>
                      </a:pPr>
                      <a:r>
                        <a:rPr sz="1200" b="0">
                          <a:solidFill>
                            <a:srgbClr val="053C5A"/>
                          </a:solidFill>
                          <a:latin typeface="Arial"/>
                        </a:rPr>
                        <a:t>1</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343.16</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72.61</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0.21158</a:t>
                      </a:r>
                    </a:p>
                  </a:txBody>
                  <a:tcPr anchor="ctr" marL="64008" marR="64008" marT="27432" marB="27432">
                    <a:solidFill>
                      <a:srgbClr val="FFFFFF"/>
                    </a:solidFill>
                  </a:tcPr>
                </a:tc>
              </a:tr>
              <a:tr h="315883">
                <a:tc>
                  <a:txBody>
                    <a:bodyPr/>
                    <a:lstStyle/>
                    <a:p>
                      <a:pPr>
                        <a:spcAft>
                          <a:spcPts val="0"/>
                        </a:spcAft>
                      </a:pPr>
                      <a:r>
                        <a:rPr sz="1200" b="0">
                          <a:solidFill>
                            <a:srgbClr val="053C5A"/>
                          </a:solidFill>
                          <a:latin typeface="Arial"/>
                        </a:rPr>
                        <a:t>2</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371.79</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67.27</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0.18093</a:t>
                      </a:r>
                    </a:p>
                  </a:txBody>
                  <a:tcPr anchor="ctr" marL="64008" marR="64008" marT="27432" marB="27432">
                    <a:solidFill>
                      <a:srgbClr val="F4F7F9"/>
                    </a:solidFill>
                  </a:tcPr>
                </a:tc>
              </a:tr>
              <a:tr h="315883">
                <a:tc>
                  <a:txBody>
                    <a:bodyPr/>
                    <a:lstStyle/>
                    <a:p>
                      <a:pPr>
                        <a:spcAft>
                          <a:spcPts val="0"/>
                        </a:spcAft>
                      </a:pPr>
                      <a:r>
                        <a:rPr sz="1200" b="0">
                          <a:solidFill>
                            <a:srgbClr val="053C5A"/>
                          </a:solidFill>
                          <a:latin typeface="Arial"/>
                        </a:rPr>
                        <a:t>3</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359.24</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70.01</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0.19488</a:t>
                      </a:r>
                    </a:p>
                  </a:txBody>
                  <a:tcPr anchor="ctr" marL="64008" marR="64008" marT="27432" marB="27432">
                    <a:solidFill>
                      <a:srgbClr val="FFFFFF"/>
                    </a:solidFill>
                  </a:tcPr>
                </a:tc>
              </a:tr>
              <a:tr h="315883">
                <a:tc>
                  <a:txBody>
                    <a:bodyPr/>
                    <a:lstStyle/>
                    <a:p>
                      <a:pPr>
                        <a:spcAft>
                          <a:spcPts val="0"/>
                        </a:spcAft>
                      </a:pPr>
                      <a:r>
                        <a:rPr sz="1200" b="0">
                          <a:solidFill>
                            <a:srgbClr val="053C5A"/>
                          </a:solidFill>
                          <a:latin typeface="Arial"/>
                        </a:rPr>
                        <a:t>4</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358.86</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72.86</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0.20302</a:t>
                      </a:r>
                    </a:p>
                  </a:txBody>
                  <a:tcPr anchor="ctr" marL="64008" marR="64008" marT="27432" marB="27432">
                    <a:solidFill>
                      <a:srgbClr val="F4F7F9"/>
                    </a:solidFill>
                  </a:tcPr>
                </a:tc>
              </a:tr>
              <a:tr h="315883">
                <a:tc>
                  <a:txBody>
                    <a:bodyPr/>
                    <a:lstStyle/>
                    <a:p>
                      <a:pPr>
                        <a:spcAft>
                          <a:spcPts val="0"/>
                        </a:spcAft>
                      </a:pPr>
                      <a:r>
                        <a:rPr sz="1200" b="0">
                          <a:solidFill>
                            <a:srgbClr val="053C5A"/>
                          </a:solidFill>
                          <a:latin typeface="Arial"/>
                        </a:rPr>
                        <a:t>5</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397.67</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71.59</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0.18003</a:t>
                      </a:r>
                    </a:p>
                  </a:txBody>
                  <a:tcPr anchor="ctr" marL="64008" marR="64008" marT="27432" marB="27432">
                    <a:solidFill>
                      <a:srgbClr val="FFFFFF"/>
                    </a:solidFill>
                  </a:tcPr>
                </a:tc>
              </a:tr>
              <a:tr h="315883">
                <a:tc>
                  <a:txBody>
                    <a:bodyPr/>
                    <a:lstStyle/>
                    <a:p>
                      <a:pPr>
                        <a:spcAft>
                          <a:spcPts val="0"/>
                        </a:spcAft>
                      </a:pPr>
                      <a:r>
                        <a:rPr sz="1200" b="0">
                          <a:solidFill>
                            <a:srgbClr val="053C5A"/>
                          </a:solidFill>
                          <a:latin typeface="Arial"/>
                        </a:rPr>
                        <a:t>6</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342.30</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74.72</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0.21829</a:t>
                      </a:r>
                    </a:p>
                  </a:txBody>
                  <a:tcPr anchor="ctr" marL="64008" marR="64008" marT="27432" marB="27432">
                    <a:solidFill>
                      <a:srgbClr val="F4F7F9"/>
                    </a:solidFill>
                  </a:tcPr>
                </a:tc>
              </a:tr>
              <a:tr h="315883">
                <a:tc>
                  <a:txBody>
                    <a:bodyPr/>
                    <a:lstStyle/>
                    <a:p>
                      <a:pPr>
                        <a:spcAft>
                          <a:spcPts val="0"/>
                        </a:spcAft>
                      </a:pPr>
                      <a:r>
                        <a:rPr sz="1200" b="0">
                          <a:solidFill>
                            <a:srgbClr val="053C5A"/>
                          </a:solidFill>
                          <a:latin typeface="Arial"/>
                        </a:rPr>
                        <a:t>7</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362.08</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74.31</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0.20524</a:t>
                      </a:r>
                    </a:p>
                  </a:txBody>
                  <a:tcPr anchor="ctr" marL="64008" marR="64008" marT="27432" marB="27432">
                    <a:solidFill>
                      <a:srgbClr val="FFFFFF"/>
                    </a:solidFill>
                  </a:tcPr>
                </a:tc>
              </a:tr>
              <a:tr h="315883">
                <a:tc>
                  <a:txBody>
                    <a:bodyPr/>
                    <a:lstStyle/>
                    <a:p>
                      <a:pPr>
                        <a:spcAft>
                          <a:spcPts val="0"/>
                        </a:spcAft>
                      </a:pPr>
                      <a:r>
                        <a:rPr sz="1200" b="0">
                          <a:solidFill>
                            <a:srgbClr val="053C5A"/>
                          </a:solidFill>
                          <a:latin typeface="Arial"/>
                        </a:rPr>
                        <a:t>8</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352.65</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71.76</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0.20347</a:t>
                      </a:r>
                    </a:p>
                  </a:txBody>
                  <a:tcPr anchor="ctr" marL="64008" marR="64008" marT="27432" marB="27432">
                    <a:solidFill>
                      <a:srgbClr val="F4F7F9"/>
                    </a:solidFill>
                  </a:tcPr>
                </a:tc>
              </a:tr>
              <a:tr h="315883">
                <a:tc>
                  <a:txBody>
                    <a:bodyPr/>
                    <a:lstStyle/>
                    <a:p>
                      <a:pPr>
                        <a:spcAft>
                          <a:spcPts val="0"/>
                        </a:spcAft>
                      </a:pPr>
                      <a:r>
                        <a:rPr sz="1200" b="0">
                          <a:solidFill>
                            <a:srgbClr val="053C5A"/>
                          </a:solidFill>
                          <a:latin typeface="Arial"/>
                        </a:rPr>
                        <a:t>9</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341.78</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73.63</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0.21543</a:t>
                      </a:r>
                    </a:p>
                  </a:txBody>
                  <a:tcPr anchor="ctr" marL="64008" marR="64008" marT="27432" marB="27432">
                    <a:solidFill>
                      <a:srgbClr val="FFFFFF"/>
                    </a:solidFill>
                  </a:tcPr>
                </a:tc>
              </a:tr>
              <a:tr h="315890">
                <a:tc>
                  <a:txBody>
                    <a:bodyPr/>
                    <a:lstStyle/>
                    <a:p>
                      <a:pPr>
                        <a:spcAft>
                          <a:spcPts val="0"/>
                        </a:spcAft>
                      </a:pPr>
                      <a:r>
                        <a:rPr sz="1200" b="0">
                          <a:solidFill>
                            <a:srgbClr val="053C5A"/>
                          </a:solidFill>
                          <a:latin typeface="Arial"/>
                        </a:rPr>
                        <a:t>10</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353.73</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71.29</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0.20155</a:t>
                      </a:r>
                    </a:p>
                  </a:txBody>
                  <a:tcPr anchor="ctr" marL="64008" marR="64008" marT="27432" marB="27432">
                    <a:solidFill>
                      <a:srgbClr val="F4F7F9"/>
                    </a:solidFill>
                  </a:tcPr>
                </a:tc>
              </a:tr>
            </a:tbl>
          </a:graphicData>
        </a:graphic>
      </p:graphicFrame>
      <p:sp>
        <p:nvSpPr>
          <p:cNvPr id="5" name="Rounded Rectangle 4"/>
          <p:cNvSpPr/>
          <p:nvPr/>
        </p:nvSpPr>
        <p:spPr>
          <a:xfrm>
            <a:off x="438912" y="4754880"/>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00" b="1">
                <a:solidFill>
                  <a:srgbClr val="053C5A"/>
                </a:solidFill>
                <a:latin typeface="Arial"/>
              </a:rPr>
              <a:t>Every pair retained. Success-only p95; one shared timeout in pair 2 is retained separately. No best-run selection.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a:xfrm>
            <a:off x="438912" y="201168"/>
            <a:ext cx="8247888" cy="777240"/>
          </a:xfrm>
        </p:spPr>
        <p:txBody>
          <a:bodyPr/>
          <a:lstStyle/>
          <a:p>
            <a:pPr algn="l"/>
            <a:r>
              <a:rPr sz="2300" b="1">
                <a:solidFill>
                  <a:srgbClr val="2F3337"/>
                </a:solidFill>
                <a:latin typeface="Arial"/>
              </a:rPr>
              <a:t>Controls locate the measured benefit in the client path</a:t>
            </a:r>
          </a:p>
        </p:txBody>
      </p:sp>
      <p:graphicFrame>
        <p:nvGraphicFramePr>
          <p:cNvPr id="4" name="Table 3"/>
          <p:cNvGraphicFramePr>
            <a:graphicFrameLocks noGrp="1"/>
          </p:cNvGraphicFramePr>
          <p:nvPr/>
        </p:nvGraphicFramePr>
        <p:xfrm>
          <a:off x="438912" y="1097280"/>
          <a:ext cx="8247886" cy="3383280"/>
        </p:xfrm>
        <a:graphic>
          <a:graphicData uri="http://schemas.openxmlformats.org/drawingml/2006/table">
            <a:tbl>
              <a:tblPr firstRow="1" bandRow="1">
                <a:tableStyleId>{5C22544A-7EE6-4342-B048-85BDC9FD1C3A}</a:tableStyleId>
              </a:tblPr>
              <a:tblGrid>
                <a:gridCol w="1732056"/>
                <a:gridCol w="577352"/>
                <a:gridCol w="1319662"/>
                <a:gridCol w="1484619"/>
                <a:gridCol w="1154704"/>
                <a:gridCol w="1979493"/>
              </a:tblGrid>
              <a:tr h="375920">
                <a:tc>
                  <a:txBody>
                    <a:bodyPr/>
                    <a:lstStyle/>
                    <a:p>
                      <a:pPr>
                        <a:spcAft>
                          <a:spcPts val="0"/>
                        </a:spcAft>
                      </a:pPr>
                      <a:r>
                        <a:rPr sz="1200" b="1">
                          <a:solidFill>
                            <a:srgbClr val="053C5A"/>
                          </a:solidFill>
                          <a:latin typeface="Arial"/>
                        </a:rPr>
                        <a:t>Workload</a:t>
                      </a:r>
                    </a:p>
                  </a:txBody>
                  <a:tcPr anchor="ctr" marL="64008" marR="64008" marT="27432" marB="27432">
                    <a:solidFill>
                      <a:srgbClr val="E9F3F7"/>
                    </a:solidFill>
                  </a:tcPr>
                </a:tc>
                <a:tc>
                  <a:txBody>
                    <a:bodyPr/>
                    <a:lstStyle/>
                    <a:p>
                      <a:pPr>
                        <a:spcAft>
                          <a:spcPts val="0"/>
                        </a:spcAft>
                      </a:pPr>
                      <a:r>
                        <a:rPr sz="1200" b="1">
                          <a:solidFill>
                            <a:srgbClr val="053C5A"/>
                          </a:solidFill>
                          <a:latin typeface="Arial"/>
                        </a:rPr>
                        <a:t>c</a:t>
                      </a:r>
                    </a:p>
                  </a:txBody>
                  <a:tcPr anchor="ctr" marL="64008" marR="64008" marT="27432" marB="27432">
                    <a:solidFill>
                      <a:srgbClr val="E9F3F7"/>
                    </a:solidFill>
                  </a:tcPr>
                </a:tc>
                <a:tc>
                  <a:txBody>
                    <a:bodyPr/>
                    <a:lstStyle/>
                    <a:p>
                      <a:pPr>
                        <a:spcAft>
                          <a:spcPts val="0"/>
                        </a:spcAft>
                      </a:pPr>
                      <a:r>
                        <a:rPr sz="1200" b="1">
                          <a:solidFill>
                            <a:srgbClr val="053C5A"/>
                          </a:solidFill>
                          <a:latin typeface="Arial"/>
                        </a:rPr>
                        <a:t>Client</a:t>
                      </a:r>
                    </a:p>
                  </a:txBody>
                  <a:tcPr anchor="ctr" marL="64008" marR="64008" marT="27432" marB="27432">
                    <a:solidFill>
                      <a:srgbClr val="E9F3F7"/>
                    </a:solidFill>
                  </a:tcPr>
                </a:tc>
                <a:tc>
                  <a:txBody>
                    <a:bodyPr/>
                    <a:lstStyle/>
                    <a:p>
                      <a:pPr>
                        <a:spcAft>
                          <a:spcPts val="0"/>
                        </a:spcAft>
                      </a:pPr>
                      <a:r>
                        <a:rPr sz="1200" b="1">
                          <a:solidFill>
                            <a:srgbClr val="053C5A"/>
                          </a:solidFill>
                          <a:latin typeface="Arial"/>
                        </a:rPr>
                        <a:t>p95 ms</a:t>
                      </a:r>
                    </a:p>
                  </a:txBody>
                  <a:tcPr anchor="ctr" marL="64008" marR="64008" marT="27432" marB="27432">
                    <a:solidFill>
                      <a:srgbClr val="E9F3F7"/>
                    </a:solidFill>
                  </a:tcPr>
                </a:tc>
                <a:tc>
                  <a:txBody>
                    <a:bodyPr/>
                    <a:lstStyle/>
                    <a:p>
                      <a:pPr>
                        <a:spcAft>
                          <a:spcPts val="0"/>
                        </a:spcAft>
                      </a:pPr>
                      <a:r>
                        <a:rPr sz="1200" b="1">
                          <a:solidFill>
                            <a:srgbClr val="053C5A"/>
                          </a:solidFill>
                          <a:latin typeface="Arial"/>
                        </a:rPr>
                        <a:t>Errors</a:t>
                      </a:r>
                    </a:p>
                  </a:txBody>
                  <a:tcPr anchor="ctr" marL="64008" marR="64008" marT="27432" marB="27432">
                    <a:solidFill>
                      <a:srgbClr val="E9F3F7"/>
                    </a:solidFill>
                  </a:tcPr>
                </a:tc>
                <a:tc>
                  <a:txBody>
                    <a:bodyPr/>
                    <a:lstStyle/>
                    <a:p>
                      <a:pPr>
                        <a:spcAft>
                          <a:spcPts val="0"/>
                        </a:spcAft>
                      </a:pPr>
                      <a:r>
                        <a:rPr sz="1200" b="1">
                          <a:solidFill>
                            <a:srgbClr val="053C5A"/>
                          </a:solidFill>
                          <a:latin typeface="Arial"/>
                        </a:rPr>
                        <a:t>Req/s</a:t>
                      </a:r>
                    </a:p>
                  </a:txBody>
                  <a:tcPr anchor="ctr" marL="64008" marR="64008" marT="27432" marB="27432">
                    <a:solidFill>
                      <a:srgbClr val="E9F3F7"/>
                    </a:solidFill>
                  </a:tcPr>
                </a:tc>
              </a:tr>
              <a:tr h="375920">
                <a:tc>
                  <a:txBody>
                    <a:bodyPr/>
                    <a:lstStyle/>
                    <a:p>
                      <a:pPr>
                        <a:spcAft>
                          <a:spcPts val="0"/>
                        </a:spcAft>
                      </a:pPr>
                      <a:r>
                        <a:rPr sz="1200" b="0">
                          <a:solidFill>
                            <a:srgbClr val="053C5A"/>
                          </a:solidFill>
                          <a:latin typeface="Arial"/>
                        </a:rPr>
                        <a:t>Control</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1</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shared</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1.10</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0</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1039.9</a:t>
                      </a:r>
                    </a:p>
                  </a:txBody>
                  <a:tcPr anchor="ctr" marL="64008" marR="64008" marT="27432" marB="27432">
                    <a:solidFill>
                      <a:srgbClr val="FFFFFF"/>
                    </a:solidFill>
                  </a:tcPr>
                </a:tc>
              </a:tr>
              <a:tr h="375920">
                <a:tc>
                  <a:txBody>
                    <a:bodyPr/>
                    <a:lstStyle/>
                    <a:p>
                      <a:pPr>
                        <a:spcAft>
                          <a:spcPts val="0"/>
                        </a:spcAft>
                      </a:pPr>
                      <a:r>
                        <a:rPr sz="1200" b="0">
                          <a:solidFill>
                            <a:srgbClr val="053C5A"/>
                          </a:solidFill>
                          <a:latin typeface="Arial"/>
                        </a:rPr>
                        <a:t>Control</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1</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worker</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1.11</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1036.5</a:t>
                      </a:r>
                    </a:p>
                  </a:txBody>
                  <a:tcPr anchor="ctr" marL="64008" marR="64008" marT="27432" marB="27432">
                    <a:solidFill>
                      <a:srgbClr val="F4F7F9"/>
                    </a:solidFill>
                  </a:tcPr>
                </a:tc>
              </a:tr>
              <a:tr h="375920">
                <a:tc>
                  <a:txBody>
                    <a:bodyPr/>
                    <a:lstStyle/>
                    <a:p>
                      <a:pPr>
                        <a:spcAft>
                          <a:spcPts val="0"/>
                        </a:spcAft>
                      </a:pPr>
                      <a:r>
                        <a:rPr sz="1200" b="0">
                          <a:solidFill>
                            <a:srgbClr val="053C5A"/>
                          </a:solidFill>
                          <a:latin typeface="Arial"/>
                        </a:rPr>
                        <a:t>Control</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64</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shared</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345.95</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0</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469.2</a:t>
                      </a:r>
                    </a:p>
                  </a:txBody>
                  <a:tcPr anchor="ctr" marL="64008" marR="64008" marT="27432" marB="27432">
                    <a:solidFill>
                      <a:srgbClr val="FFFFFF"/>
                    </a:solidFill>
                  </a:tcPr>
                </a:tc>
              </a:tr>
              <a:tr h="375920">
                <a:tc>
                  <a:txBody>
                    <a:bodyPr/>
                    <a:lstStyle/>
                    <a:p>
                      <a:pPr>
                        <a:spcAft>
                          <a:spcPts val="0"/>
                        </a:spcAft>
                      </a:pPr>
                      <a:r>
                        <a:rPr sz="1200" b="0">
                          <a:solidFill>
                            <a:srgbClr val="053C5A"/>
                          </a:solidFill>
                          <a:latin typeface="Arial"/>
                        </a:rPr>
                        <a:t>Control</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64</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worker</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67.21</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1647.6</a:t>
                      </a:r>
                    </a:p>
                  </a:txBody>
                  <a:tcPr anchor="ctr" marL="64008" marR="64008" marT="27432" marB="27432">
                    <a:solidFill>
                      <a:srgbClr val="F4F7F9"/>
                    </a:solidFill>
                  </a:tcPr>
                </a:tc>
              </a:tr>
              <a:tr h="375920">
                <a:tc>
                  <a:txBody>
                    <a:bodyPr/>
                    <a:lstStyle/>
                    <a:p>
                      <a:pPr>
                        <a:spcAft>
                          <a:spcPts val="0"/>
                        </a:spcAft>
                      </a:pPr>
                      <a:r>
                        <a:rPr sz="1200" b="0">
                          <a:solidFill>
                            <a:srgbClr val="053C5A"/>
                          </a:solidFill>
                          <a:latin typeface="Arial"/>
                        </a:rPr>
                        <a:t>Structural</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1</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shared</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1.42</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0</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820.4</a:t>
                      </a:r>
                    </a:p>
                  </a:txBody>
                  <a:tcPr anchor="ctr" marL="64008" marR="64008" marT="27432" marB="27432">
                    <a:solidFill>
                      <a:srgbClr val="FFFFFF"/>
                    </a:solidFill>
                  </a:tcPr>
                </a:tc>
              </a:tr>
              <a:tr h="375920">
                <a:tc>
                  <a:txBody>
                    <a:bodyPr/>
                    <a:lstStyle/>
                    <a:p>
                      <a:pPr>
                        <a:spcAft>
                          <a:spcPts val="0"/>
                        </a:spcAft>
                      </a:pPr>
                      <a:r>
                        <a:rPr sz="1200" b="0">
                          <a:solidFill>
                            <a:srgbClr val="053C5A"/>
                          </a:solidFill>
                          <a:latin typeface="Arial"/>
                        </a:rPr>
                        <a:t>Structural</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1</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worker</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1.43</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819.8</a:t>
                      </a:r>
                    </a:p>
                  </a:txBody>
                  <a:tcPr anchor="ctr" marL="64008" marR="64008" marT="27432" marB="27432">
                    <a:solidFill>
                      <a:srgbClr val="F4F7F9"/>
                    </a:solidFill>
                  </a:tcPr>
                </a:tc>
              </a:tr>
              <a:tr h="375920">
                <a:tc>
                  <a:txBody>
                    <a:bodyPr/>
                    <a:lstStyle/>
                    <a:p>
                      <a:pPr>
                        <a:spcAft>
                          <a:spcPts val="0"/>
                        </a:spcAft>
                      </a:pPr>
                      <a:r>
                        <a:rPr sz="1200" b="0">
                          <a:solidFill>
                            <a:srgbClr val="053C5A"/>
                          </a:solidFill>
                          <a:latin typeface="Arial"/>
                        </a:rPr>
                        <a:t>Structural</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64</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shared</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358.37</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1</a:t>
                      </a:r>
                    </a:p>
                  </a:txBody>
                  <a:tcPr anchor="ctr" marL="64008" marR="64008" marT="27432" marB="27432">
                    <a:solidFill>
                      <a:srgbClr val="FFFFFF"/>
                    </a:solidFill>
                  </a:tcPr>
                </a:tc>
                <a:tc>
                  <a:txBody>
                    <a:bodyPr/>
                    <a:lstStyle/>
                    <a:p>
                      <a:pPr>
                        <a:spcAft>
                          <a:spcPts val="0"/>
                        </a:spcAft>
                      </a:pPr>
                      <a:r>
                        <a:rPr sz="1200" b="0">
                          <a:solidFill>
                            <a:srgbClr val="053C5A"/>
                          </a:solidFill>
                          <a:latin typeface="Arial"/>
                        </a:rPr>
                        <a:t>454.1</a:t>
                      </a:r>
                    </a:p>
                  </a:txBody>
                  <a:tcPr anchor="ctr" marL="64008" marR="64008" marT="27432" marB="27432">
                    <a:solidFill>
                      <a:srgbClr val="FFFFFF"/>
                    </a:solidFill>
                  </a:tcPr>
                </a:tc>
              </a:tr>
              <a:tr h="375920">
                <a:tc>
                  <a:txBody>
                    <a:bodyPr/>
                    <a:lstStyle/>
                    <a:p>
                      <a:pPr>
                        <a:spcAft>
                          <a:spcPts val="0"/>
                        </a:spcAft>
                      </a:pPr>
                      <a:r>
                        <a:rPr sz="1200" b="0">
                          <a:solidFill>
                            <a:srgbClr val="053C5A"/>
                          </a:solidFill>
                          <a:latin typeface="Arial"/>
                        </a:rPr>
                        <a:t>Structural</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64</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worker</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72.00</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0</a:t>
                      </a:r>
                    </a:p>
                  </a:txBody>
                  <a:tcPr anchor="ctr" marL="64008" marR="64008" marT="27432" marB="27432">
                    <a:solidFill>
                      <a:srgbClr val="F4F7F9"/>
                    </a:solidFill>
                  </a:tcPr>
                </a:tc>
                <a:tc>
                  <a:txBody>
                    <a:bodyPr/>
                    <a:lstStyle/>
                    <a:p>
                      <a:pPr>
                        <a:spcAft>
                          <a:spcPts val="0"/>
                        </a:spcAft>
                      </a:pPr>
                      <a:r>
                        <a:rPr sz="1200" b="0">
                          <a:solidFill>
                            <a:srgbClr val="053C5A"/>
                          </a:solidFill>
                          <a:latin typeface="Arial"/>
                        </a:rPr>
                        <a:t>1526.7</a:t>
                      </a:r>
                    </a:p>
                  </a:txBody>
                  <a:tcPr anchor="ctr" marL="64008" marR="64008" marT="27432" marB="27432">
                    <a:solidFill>
                      <a:srgbClr val="F4F7F9"/>
                    </a:solidFill>
                  </a:tcPr>
                </a:tc>
              </a:tr>
            </a:tbl>
          </a:graphicData>
        </a:graphic>
      </p:graphicFrame>
      <p:sp>
        <p:nvSpPr>
          <p:cNvPr id="5" name="Rounded Rectangle 4"/>
          <p:cNvSpPr/>
          <p:nvPr/>
        </p:nvSpPr>
        <p:spPr>
          <a:xfrm>
            <a:off x="438912" y="4754880"/>
            <a:ext cx="8247888" cy="402336"/>
          </a:xfrm>
          <a:prstGeom prst="roundRect">
            <a:avLst>
              <a:gd name="adj" fmla="val 8000"/>
            </a:avLst>
          </a:prstGeom>
          <a:solidFill>
            <a:srgbClr val="E9F3F7"/>
          </a:solidFill>
          <a:ln>
            <a:solidFill>
              <a:srgbClr val="E9F3F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ctr"/>
            <a:r>
              <a:rPr sz="1100" b="1">
                <a:solidFill>
                  <a:srgbClr val="053C5A"/>
                </a:solidFill>
                <a:latin typeface="Arial"/>
              </a:rPr>
              <a:t>Ten arms and 100,000 attempts per row. Similar c1 latency; both c64 workloads improve. No transformer speedup claim.</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3498</TotalTime>
  <Words>3217</Words>
  <Application>Microsoft Macintosh PowerPoint</Application>
  <PresentationFormat>On-screen Show (4:3)</PresentationFormat>
  <Paragraphs>176</Paragraphs>
  <Slides>11</Slides>
  <Notes>11</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Praxis Complete Research Revision — October 2, 2026</dc:title>
  <dc:subject>Original RQ1–RQ3 and completed D/S engineering comparisons</dc:subject>
  <dc:creator>Krti Tallam</dc:creator>
  <cp:keywords/>
  <dc:description/>
  <cp:lastModifiedBy>Krti Tallam</cp:lastModifiedBy>
  <cp:revision>98</cp:revision>
  <dcterms:created xsi:type="dcterms:W3CDTF">2026-10-01T23:21:27Z</dcterms:created>
  <dcterms:modified xsi:type="dcterms:W3CDTF">2026-10-02T08:44:41Z</dcterms:modified>
  <cp:category/>
  <dc:identifier/>
  <cp:contentStatus/>
  <dc:language>en-US</dc:language>
  <cp:version/>
</cp:coreProperties>
</file>